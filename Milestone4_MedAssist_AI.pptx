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8669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3A650-A1CD-1AB3-7FB2-E47794E12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AE1E1-DC35-90BD-46FB-FE71567A7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E2FB6D-1AA5-FE26-7DFE-0558280BA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E0493-38BF-0827-4B51-DADB628920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3874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1A2E52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937760" cy="4937760"/>
          </a:xfrm>
          <a:prstGeom prst="ellipse">
            <a:avLst/>
          </a:prstGeom>
          <a:solidFill>
            <a:srgbClr val="1A2E5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5156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/home/claude/medassist/icons/heart_pul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125364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057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&amp; 8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42316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MedAssist AI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340156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Testing, Deployment &amp; Documentation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4160520"/>
            <a:ext cx="2743200" cy="0"/>
          </a:xfrm>
          <a:prstGeom prst="line">
            <a:avLst/>
          </a:prstGeom>
          <a:noFill/>
          <a:ln w="15875">
            <a:solidFill>
              <a:srgbClr val="34527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3434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MedAssist AI into a tested, optimized and live healthcare platform.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2960" y="4983480"/>
            <a:ext cx="2029968" cy="402336"/>
          </a:xfrm>
          <a:prstGeom prst="roundRect">
            <a:avLst>
              <a:gd name="adj" fmla="val 18182"/>
            </a:avLst>
          </a:prstGeom>
          <a:solidFill>
            <a:srgbClr val="223761"/>
          </a:solidFill>
          <a:ln w="9525">
            <a:solidFill>
              <a:srgbClr val="34527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983480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054096" y="4983480"/>
            <a:ext cx="1682496" cy="402336"/>
          </a:xfrm>
          <a:prstGeom prst="roundRect">
            <a:avLst>
              <a:gd name="adj" fmla="val 18182"/>
            </a:avLst>
          </a:prstGeom>
          <a:solidFill>
            <a:srgbClr val="223761"/>
          </a:solidFill>
          <a:ln w="9525">
            <a:solidFill>
              <a:srgbClr val="34527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54096" y="4983480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937760" y="4983480"/>
            <a:ext cx="1421892" cy="402336"/>
          </a:xfrm>
          <a:prstGeom prst="roundRect">
            <a:avLst>
              <a:gd name="adj" fmla="val 18182"/>
            </a:avLst>
          </a:prstGeom>
          <a:solidFill>
            <a:srgbClr val="223761"/>
          </a:solidFill>
          <a:ln w="9525">
            <a:solidFill>
              <a:srgbClr val="34527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4983480"/>
            <a:ext cx="14218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22960" y="62910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Internship 7.0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OVERVIEW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build to live platform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transform MedAssist AI into a tested, optimized and live healthcare platform.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5780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231136"/>
            <a:ext cx="585216" cy="585216"/>
          </a:xfrm>
          <a:prstGeom prst="ellipse">
            <a:avLst/>
          </a:prstGeom>
          <a:solidFill>
            <a:srgbClr val="10203D"/>
          </a:solidFill>
          <a:ln/>
        </p:spPr>
      </p:sp>
      <p:pic>
        <p:nvPicPr>
          <p:cNvPr id="7" name="Image 0" descr="/home/claude/medassist/icons/clipboard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68" y="2383292"/>
            <a:ext cx="280904" cy="280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139696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AI Performance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91640" y="254203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prediction accuracy and confidence scores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920240"/>
            <a:ext cx="525780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19672" y="2231136"/>
            <a:ext cx="585216" cy="585216"/>
          </a:xfrm>
          <a:prstGeom prst="ellipse">
            <a:avLst/>
          </a:prstGeom>
          <a:solidFill>
            <a:srgbClr val="10203D"/>
          </a:solidFill>
          <a:ln/>
        </p:spPr>
      </p:sp>
      <p:pic>
        <p:nvPicPr>
          <p:cNvPr id="12" name="Image 1" descr="/home/claude/medassist/icons/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828" y="2383292"/>
            <a:ext cx="280904" cy="280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2139696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Healthcare Workflows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315200" y="254203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patient and doctor journeys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3328416"/>
            <a:ext cx="525780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96112" y="3639312"/>
            <a:ext cx="585216" cy="585216"/>
          </a:xfrm>
          <a:prstGeom prst="ellipse">
            <a:avLst/>
          </a:prstGeom>
          <a:solidFill>
            <a:srgbClr val="10203D"/>
          </a:solidFill>
          <a:ln/>
        </p:spPr>
      </p:sp>
      <p:pic>
        <p:nvPicPr>
          <p:cNvPr id="17" name="Image 2" descr="/home/claude/medassist/icons/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268" y="3791468"/>
            <a:ext cx="280904" cy="2809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354787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Dashboards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691640" y="3950208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responsiveness and usability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63640" y="3328416"/>
            <a:ext cx="525780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19672" y="3639312"/>
            <a:ext cx="585216" cy="585216"/>
          </a:xfrm>
          <a:prstGeom prst="ellipse">
            <a:avLst/>
          </a:prstGeom>
          <a:solidFill>
            <a:srgbClr val="10203D"/>
          </a:solidFill>
          <a:ln/>
        </p:spPr>
      </p:sp>
      <p:pic>
        <p:nvPicPr>
          <p:cNvPr id="22" name="Image 3" descr="/home/claude/medassist/icons/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1828" y="3791468"/>
            <a:ext cx="280904" cy="2809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0" y="354787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the Cloud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315200" y="3950208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frontend, backend and database live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40080" y="4736592"/>
            <a:ext cx="525780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96112" y="5047488"/>
            <a:ext cx="585216" cy="585216"/>
          </a:xfrm>
          <a:prstGeom prst="ellipse">
            <a:avLst/>
          </a:prstGeom>
          <a:solidFill>
            <a:srgbClr val="10203D"/>
          </a:solidFill>
          <a:ln/>
        </p:spPr>
      </p:sp>
      <p:pic>
        <p:nvPicPr>
          <p:cNvPr id="27" name="Image 4" descr="/home/claude/medassist/icons/file_lin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268" y="5199644"/>
            <a:ext cx="280904" cy="28090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91640" y="495604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Documentation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1691640" y="5358384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architecture, results and outcomes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263640" y="4736592"/>
            <a:ext cx="525780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519672" y="5047488"/>
            <a:ext cx="585216" cy="585216"/>
          </a:xfrm>
          <a:prstGeom prst="ellipse">
            <a:avLst/>
          </a:prstGeom>
          <a:solidFill>
            <a:srgbClr val="10203D"/>
          </a:solidFill>
          <a:ln/>
        </p:spPr>
      </p:sp>
      <p:pic>
        <p:nvPicPr>
          <p:cNvPr id="32" name="Image 5" descr="/home/claude/medassist/icons/displa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1828" y="5199644"/>
            <a:ext cx="280904" cy="28090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315200" y="495604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the Platform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7315200" y="5358384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the complete MedAssist AI system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·  Milestone 4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TESTING &amp; VALIDATION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Validating the prediction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prediction system was tested to ensure reliable disease predictions.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ACTIVITIES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" y="2340864"/>
            <a:ext cx="607161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the AI model with different symptom combinations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2549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969264" y="2743200"/>
            <a:ext cx="607161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predicted diseases and confidence scores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2783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69264" y="3145536"/>
            <a:ext cx="607161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prediction results against expected outcomes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3016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969264" y="3547872"/>
            <a:ext cx="607161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risk and severity classification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3250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969264" y="3950208"/>
            <a:ext cx="607161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recommendation generation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969264" y="4352544"/>
            <a:ext cx="607161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different patient inputs and edge cases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497433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FOCUS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358384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223761"/>
          </a:solidFill>
          <a:ln w="9525">
            <a:solidFill>
              <a:srgbClr val="3A50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35838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pic>
        <p:nvPicPr>
          <p:cNvPr id="21" name="Image 0" descr="/home/claude/medassist/icons/arrow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256" y="5486400"/>
            <a:ext cx="164592" cy="16459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2267712" y="5358384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223761"/>
          </a:solidFill>
          <a:ln w="9525">
            <a:solidFill>
              <a:srgbClr val="3A507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267712" y="535838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50" dirty="0"/>
          </a:p>
        </p:txBody>
      </p:sp>
      <p:pic>
        <p:nvPicPr>
          <p:cNvPr id="24" name="Image 1" descr="/home/claude/medassist/icons/arrow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5486400"/>
            <a:ext cx="164592" cy="164592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3895344" y="5358384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223761"/>
          </a:solidFill>
          <a:ln w="9525">
            <a:solidFill>
              <a:srgbClr val="3A507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895344" y="535838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150" dirty="0"/>
          </a:p>
        </p:txBody>
      </p:sp>
      <p:pic>
        <p:nvPicPr>
          <p:cNvPr id="27" name="Image 2" descr="/home/claude/medassist/icons/arrow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5486400"/>
            <a:ext cx="164592" cy="164592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5522976" y="5358384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223761"/>
          </a:solidFill>
          <a:ln w="9525">
            <a:solidFill>
              <a:srgbClr val="3A507C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522976" y="535838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640080" y="58704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improved confidence in the AI-based health prediction system.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9203436" y="3598164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3" name="Image 3" descr="/home/claude/medassist/icons/disp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0837" y="3745565"/>
            <a:ext cx="272125" cy="272125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589520" y="4219956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— AI prediction results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·  Milestone 4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6A843C7-F803-99D1-6C6C-2E0745B8A4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1874521"/>
            <a:ext cx="4635500" cy="34838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WORKFLOW TESTING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workflows, verified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patient and doctor workflows were tested across the platform.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69494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86000"/>
            <a:ext cx="566928" cy="566928"/>
          </a:xfrm>
          <a:prstGeom prst="ellipse">
            <a:avLst/>
          </a:prstGeom>
          <a:solidFill>
            <a:srgbClr val="10203D"/>
          </a:solidFill>
          <a:ln/>
        </p:spPr>
      </p:sp>
      <p:pic>
        <p:nvPicPr>
          <p:cNvPr id="7" name="Image 0" descr="/home/claude/medassist/icons/user_inju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243340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1031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Workflow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00200" y="246888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  →   Login   →   Profile   →   Symptoms   →   AI Prediction   →   Reports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40080" y="3364992"/>
            <a:ext cx="69494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3685032"/>
            <a:ext cx="566928" cy="566928"/>
          </a:xfrm>
          <a:prstGeom prst="ellipse">
            <a:avLst/>
          </a:prstGeom>
          <a:solidFill>
            <a:srgbClr val="2F6FEB"/>
          </a:solidFill>
          <a:ln/>
        </p:spPr>
      </p:sp>
      <p:pic>
        <p:nvPicPr>
          <p:cNvPr id="12" name="Image 1" descr="/home/claude/medassist/icons/user_do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81" y="3832433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5021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Workflow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600200" y="3867912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  →   Dashboard   →   Assigned Patients   →   Patient Details   →   AI Predictions   →   Reports   →   Analytics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640080" y="4709160"/>
            <a:ext cx="69494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68680" y="4828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INCLUDED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68680" y="513892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18" name="Text 14"/>
          <p:cNvSpPr/>
          <p:nvPr/>
        </p:nvSpPr>
        <p:spPr>
          <a:xfrm>
            <a:off x="1097280" y="5056632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68680" y="537667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20" name="Text 16"/>
          <p:cNvSpPr/>
          <p:nvPr/>
        </p:nvSpPr>
        <p:spPr>
          <a:xfrm>
            <a:off x="1097280" y="5294376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profile management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68680" y="561441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22" name="Text 18"/>
          <p:cNvSpPr/>
          <p:nvPr/>
        </p:nvSpPr>
        <p:spPr>
          <a:xfrm>
            <a:off x="1097280" y="5532120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recording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68680" y="585216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24" name="Text 20"/>
          <p:cNvSpPr/>
          <p:nvPr/>
        </p:nvSpPr>
        <p:spPr>
          <a:xfrm>
            <a:off x="1097280" y="5769864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prediction workflow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297680" y="513892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26" name="Text 22"/>
          <p:cNvSpPr/>
          <p:nvPr/>
        </p:nvSpPr>
        <p:spPr>
          <a:xfrm>
            <a:off x="4526280" y="5056632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history &amp; health reports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297680" y="537667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28" name="Text 24"/>
          <p:cNvSpPr/>
          <p:nvPr/>
        </p:nvSpPr>
        <p:spPr>
          <a:xfrm>
            <a:off x="4526280" y="5294376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dashboard &amp; analytics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4297680" y="561441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30" name="Text 26"/>
          <p:cNvSpPr/>
          <p:nvPr/>
        </p:nvSpPr>
        <p:spPr>
          <a:xfrm>
            <a:off x="4526280" y="5532120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9432036" y="3621024"/>
            <a:ext cx="566928" cy="566928"/>
          </a:xfrm>
          <a:prstGeom prst="ellipse">
            <a:avLst/>
          </a:prstGeom>
          <a:solidFill>
            <a:srgbClr val="2F6FEB"/>
          </a:solidFill>
          <a:ln/>
        </p:spPr>
      </p:sp>
      <p:pic>
        <p:nvPicPr>
          <p:cNvPr id="33" name="Image 2" descr="/home/claude/medassist/icons/displ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9437" y="3768425"/>
            <a:ext cx="272125" cy="272125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046720" y="424281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— patient / doctor dashboard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·  Milestone 4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72A097E-9991-F6B3-5EB4-FEC71563D7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5824" y="2249424"/>
            <a:ext cx="4149027" cy="29252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PLATFORM OPTIMIZATION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 smoother experience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was optimized to provide a smoother user experience.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AREAS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164592" cy="164592"/>
          </a:xfrm>
          <a:prstGeom prst="roundRect">
            <a:avLst>
              <a:gd name="adj" fmla="val 19444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dashboard loading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953512"/>
            <a:ext cx="164592" cy="164592"/>
          </a:xfrm>
          <a:prstGeom prst="roundRect">
            <a:avLst>
              <a:gd name="adj" fmla="val 19444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6207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unnecessary API requests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483864"/>
            <a:ext cx="164592" cy="164592"/>
          </a:xfrm>
          <a:prstGeom prst="roundRect">
            <a:avLst>
              <a:gd name="adj" fmla="val 19444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9242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frontend responsiveness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014216"/>
            <a:ext cx="164592" cy="164592"/>
          </a:xfrm>
          <a:prstGeom prst="roundRect">
            <a:avLst>
              <a:gd name="adj" fmla="val 19444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92277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loading and error handling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86200" y="2423160"/>
            <a:ext cx="164592" cy="164592"/>
          </a:xfrm>
          <a:prstGeom prst="roundRect">
            <a:avLst>
              <a:gd name="adj" fmla="val 19444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160520" y="23317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navigation between modules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86200" y="2953512"/>
            <a:ext cx="164592" cy="164592"/>
          </a:xfrm>
          <a:prstGeom prst="roundRect">
            <a:avLst>
              <a:gd name="adj" fmla="val 19444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4160520" y="286207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clear health information cards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86200" y="3483864"/>
            <a:ext cx="164592" cy="164592"/>
          </a:xfrm>
          <a:prstGeom prst="roundRect">
            <a:avLst>
              <a:gd name="adj" fmla="val 19444"/>
            </a:avLst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4160520" y="339242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visualization of analytics and health trends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86200" y="4014216"/>
            <a:ext cx="164592" cy="164592"/>
          </a:xfrm>
          <a:prstGeom prst="roundRect">
            <a:avLst>
              <a:gd name="adj" fmla="val 19444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160520" y="392277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patients with no previous predictions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65429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001768"/>
            <a:ext cx="3108960" cy="420624"/>
          </a:xfrm>
          <a:prstGeom prst="roundRect">
            <a:avLst>
              <a:gd name="adj" fmla="val 21739"/>
            </a:avLst>
          </a:prstGeom>
          <a:solidFill>
            <a:srgbClr val="223761"/>
          </a:solidFill>
          <a:ln w="9525">
            <a:solidFill>
              <a:srgbClr val="3A50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001768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user experience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931920" y="5001768"/>
            <a:ext cx="3108960" cy="420624"/>
          </a:xfrm>
          <a:prstGeom prst="roundRect">
            <a:avLst>
              <a:gd name="adj" fmla="val 21739"/>
            </a:avLst>
          </a:prstGeom>
          <a:solidFill>
            <a:srgbClr val="223761"/>
          </a:solidFill>
          <a:ln w="9525">
            <a:solidFill>
              <a:srgbClr val="3A50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0" y="5001768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dashboards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5550408"/>
            <a:ext cx="3108960" cy="420624"/>
          </a:xfrm>
          <a:prstGeom prst="roundRect">
            <a:avLst>
              <a:gd name="adj" fmla="val 21739"/>
            </a:avLst>
          </a:prstGeom>
          <a:solidFill>
            <a:srgbClr val="223761"/>
          </a:solidFill>
          <a:ln w="9525">
            <a:solidFill>
              <a:srgbClr val="3A50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550408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healthcare information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931920" y="5550408"/>
            <a:ext cx="3108960" cy="420624"/>
          </a:xfrm>
          <a:prstGeom prst="roundRect">
            <a:avLst>
              <a:gd name="adj" fmla="val 21739"/>
            </a:avLst>
          </a:prstGeom>
          <a:solidFill>
            <a:srgbClr val="223761"/>
          </a:solidFill>
          <a:ln w="9525">
            <a:solidFill>
              <a:srgbClr val="3A50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5550408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navigation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203436" y="3598164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3" name="Image 0" descr="/home/claude/medassist/icons/dis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0837" y="3745565"/>
            <a:ext cx="272125" cy="272125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589520" y="4219956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— optimized dashboard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·  Milestone 4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188D064-673C-8DB1-1AC4-F5608F1FB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6512" y="2176272"/>
            <a:ext cx="4792899" cy="29626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8706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MedAssist AI, live on the web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was deployed using modern cloud environments.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30452" y="2167128"/>
            <a:ext cx="585216" cy="585216"/>
          </a:xfrm>
          <a:prstGeom prst="ellipse">
            <a:avLst/>
          </a:prstGeom>
          <a:solidFill>
            <a:srgbClr val="10203D"/>
          </a:solidFill>
          <a:ln/>
        </p:spPr>
      </p:sp>
      <p:pic>
        <p:nvPicPr>
          <p:cNvPr id="7" name="Image 0" descr="/home/claude/medassist/icons/dis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608" y="2319284"/>
            <a:ext cx="280904" cy="280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8346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08152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050" dirty="0"/>
          </a:p>
        </p:txBody>
      </p:sp>
      <p:pic>
        <p:nvPicPr>
          <p:cNvPr id="10" name="Image 1" descr="/home/claude/medassist/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4056" y="2555748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108960" y="19659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799332" y="2167128"/>
            <a:ext cx="585216" cy="585216"/>
          </a:xfrm>
          <a:prstGeom prst="ellipse">
            <a:avLst/>
          </a:prstGeom>
          <a:solidFill>
            <a:srgbClr val="10203D"/>
          </a:solidFill>
          <a:ln/>
        </p:spPr>
      </p:sp>
      <p:pic>
        <p:nvPicPr>
          <p:cNvPr id="13" name="Image 2" descr="/home/claude/medassist/icons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1488" y="2319284"/>
            <a:ext cx="280904" cy="2809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108960" y="28346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108960" y="308152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(FastAPI)</a:t>
            </a:r>
            <a:endParaRPr lang="en-US" sz="1050" dirty="0"/>
          </a:p>
        </p:txBody>
      </p:sp>
      <p:pic>
        <p:nvPicPr>
          <p:cNvPr id="16" name="Image 3" descr="/home/claude/medassist/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936" y="2555748"/>
            <a:ext cx="256032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577840" y="19659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8" name="Shape 12"/>
          <p:cNvSpPr/>
          <p:nvPr/>
        </p:nvSpPr>
        <p:spPr>
          <a:xfrm>
            <a:off x="6268212" y="2167128"/>
            <a:ext cx="585216" cy="585216"/>
          </a:xfrm>
          <a:prstGeom prst="ellipse">
            <a:avLst/>
          </a:prstGeom>
          <a:solidFill>
            <a:srgbClr val="10203D"/>
          </a:solidFill>
          <a:ln/>
        </p:spPr>
      </p:sp>
      <p:pic>
        <p:nvPicPr>
          <p:cNvPr id="19" name="Image 4" descr="/home/claude/medassist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0368" y="2319284"/>
            <a:ext cx="280904" cy="28090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577840" y="28346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5577840" y="308152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on Render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40080" y="3749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ACTIVITIES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40080" y="41422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24" name="Text 17"/>
          <p:cNvSpPr/>
          <p:nvPr/>
        </p:nvSpPr>
        <p:spPr>
          <a:xfrm>
            <a:off x="868680" y="405079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frontend with production backend API</a:t>
            </a:r>
            <a:endParaRPr lang="en-US" sz="1080" dirty="0"/>
          </a:p>
        </p:txBody>
      </p:sp>
      <p:sp>
        <p:nvSpPr>
          <p:cNvPr id="25" name="Shape 18"/>
          <p:cNvSpPr/>
          <p:nvPr/>
        </p:nvSpPr>
        <p:spPr>
          <a:xfrm>
            <a:off x="640080" y="45262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26" name="Text 19"/>
          <p:cNvSpPr/>
          <p:nvPr/>
        </p:nvSpPr>
        <p:spPr>
          <a:xfrm>
            <a:off x="868680" y="44348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environment variables</a:t>
            </a:r>
            <a:endParaRPr lang="en-US" sz="1080" dirty="0"/>
          </a:p>
        </p:txBody>
      </p:sp>
      <p:sp>
        <p:nvSpPr>
          <p:cNvPr id="27" name="Shape 20"/>
          <p:cNvSpPr/>
          <p:nvPr/>
        </p:nvSpPr>
        <p:spPr>
          <a:xfrm>
            <a:off x="640080" y="49103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28" name="Text 21"/>
          <p:cNvSpPr/>
          <p:nvPr/>
        </p:nvSpPr>
        <p:spPr>
          <a:xfrm>
            <a:off x="868680" y="481888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CORS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640080" y="52943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30" name="Text 23"/>
          <p:cNvSpPr/>
          <p:nvPr/>
        </p:nvSpPr>
        <p:spPr>
          <a:xfrm>
            <a:off x="868680" y="520293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FastAPI backend</a:t>
            </a:r>
            <a:endParaRPr lang="en-US" sz="1080" dirty="0"/>
          </a:p>
        </p:txBody>
      </p:sp>
      <p:sp>
        <p:nvSpPr>
          <p:cNvPr id="31" name="Shape 24"/>
          <p:cNvSpPr/>
          <p:nvPr/>
        </p:nvSpPr>
        <p:spPr>
          <a:xfrm>
            <a:off x="4069080" y="41422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32" name="Text 25"/>
          <p:cNvSpPr/>
          <p:nvPr/>
        </p:nvSpPr>
        <p:spPr>
          <a:xfrm>
            <a:off x="4297680" y="405079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PostgreSQL database</a:t>
            </a:r>
            <a:endParaRPr lang="en-US" sz="1080" dirty="0"/>
          </a:p>
        </p:txBody>
      </p:sp>
      <p:sp>
        <p:nvSpPr>
          <p:cNvPr id="33" name="Shape 26"/>
          <p:cNvSpPr/>
          <p:nvPr/>
        </p:nvSpPr>
        <p:spPr>
          <a:xfrm>
            <a:off x="4069080" y="45262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34" name="Text 27"/>
          <p:cNvSpPr/>
          <p:nvPr/>
        </p:nvSpPr>
        <p:spPr>
          <a:xfrm>
            <a:off x="4297680" y="44348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authentication on production</a:t>
            </a:r>
            <a:endParaRPr lang="en-US" sz="1080" dirty="0"/>
          </a:p>
        </p:txBody>
      </p:sp>
      <p:sp>
        <p:nvSpPr>
          <p:cNvPr id="35" name="Shape 28"/>
          <p:cNvSpPr/>
          <p:nvPr/>
        </p:nvSpPr>
        <p:spPr>
          <a:xfrm>
            <a:off x="4069080" y="49103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36" name="Text 29"/>
          <p:cNvSpPr/>
          <p:nvPr/>
        </p:nvSpPr>
        <p:spPr>
          <a:xfrm>
            <a:off x="4297680" y="481888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 API communication</a:t>
            </a:r>
            <a:endParaRPr lang="en-US" sz="1080" dirty="0"/>
          </a:p>
        </p:txBody>
      </p:sp>
      <p:sp>
        <p:nvSpPr>
          <p:cNvPr id="37" name="Text 30"/>
          <p:cNvSpPr/>
          <p:nvPr/>
        </p:nvSpPr>
        <p:spPr>
          <a:xfrm>
            <a:off x="8192506" y="562508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Deployment using Render.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9432036" y="3621024"/>
            <a:ext cx="566928" cy="566928"/>
          </a:xfrm>
          <a:prstGeom prst="ellipse">
            <a:avLst/>
          </a:prstGeom>
          <a:solidFill>
            <a:srgbClr val="2F6FEB"/>
          </a:solidFill>
          <a:ln/>
        </p:spPr>
      </p:sp>
      <p:pic>
        <p:nvPicPr>
          <p:cNvPr id="40" name="Image 5" descr="/home/claude/medassist/icons/dis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9437" y="3768425"/>
            <a:ext cx="272125" cy="272125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046720" y="424281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— live deployed platform</a:t>
            </a:r>
            <a:endParaRPr lang="en-US" sz="1150" dirty="0"/>
          </a:p>
        </p:txBody>
      </p:sp>
      <p:sp>
        <p:nvSpPr>
          <p:cNvPr id="42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·  Milestone 4</a:t>
            </a:r>
            <a:endParaRPr lang="en-US" sz="950" dirty="0"/>
          </a:p>
        </p:txBody>
      </p:sp>
      <p:sp>
        <p:nvSpPr>
          <p:cNvPr id="43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59808256-C2AA-B094-8EC1-45BEB11D6C2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2466723"/>
            <a:ext cx="4601253" cy="3069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1098F8-4FCF-9457-8251-6322EE84F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9624D8-38D1-94B2-3EDC-15A476DB25BA}"/>
              </a:ext>
            </a:extLst>
          </p:cNvPr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25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554A928A-F5E2-323A-381E-C1607EFD3F9B}"/>
              </a:ext>
            </a:extLst>
          </p:cNvPr>
          <p:cNvSpPr/>
          <p:nvPr/>
        </p:nvSpPr>
        <p:spPr>
          <a:xfrm>
            <a:off x="758835" y="348843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2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ACTIVITIES</a:t>
            </a:r>
            <a:endParaRPr lang="en-US" sz="1150" dirty="0"/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2A940DDA-1910-3BDA-FCDD-90873AD78E76}"/>
              </a:ext>
            </a:extLst>
          </p:cNvPr>
          <p:cNvSpPr/>
          <p:nvPr/>
        </p:nvSpPr>
        <p:spPr>
          <a:xfrm>
            <a:off x="7567482" y="5123794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Deployment using Render</a:t>
            </a:r>
            <a:endParaRPr lang="en-US" sz="1200" dirty="0"/>
          </a:p>
        </p:txBody>
      </p:sp>
      <p:sp>
        <p:nvSpPr>
          <p:cNvPr id="42" name="Text 34">
            <a:extLst>
              <a:ext uri="{FF2B5EF4-FFF2-40B4-BE49-F238E27FC236}">
                <a16:creationId xmlns:a16="http://schemas.microsoft.com/office/drawing/2014/main" id="{5F5CABB5-0B60-784F-A66A-C998E92191A6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·  Milestone 4</a:t>
            </a:r>
            <a:endParaRPr lang="en-US" sz="950" dirty="0"/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CEEC99C6-6707-945C-7A06-414CC1250E92}"/>
              </a:ext>
            </a:extLst>
          </p:cNvPr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CBFDD0CC-010F-638C-5B1F-D833EA2AF3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89" y="1959102"/>
            <a:ext cx="5582128" cy="282092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Text 30">
            <a:extLst>
              <a:ext uri="{FF2B5EF4-FFF2-40B4-BE49-F238E27FC236}">
                <a16:creationId xmlns:a16="http://schemas.microsoft.com/office/drawing/2014/main" id="{F12E1806-E2AF-E31E-C044-E1A6415E5C18}"/>
              </a:ext>
            </a:extLst>
          </p:cNvPr>
          <p:cNvSpPr/>
          <p:nvPr/>
        </p:nvSpPr>
        <p:spPr>
          <a:xfrm>
            <a:off x="1448338" y="5123794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Deployment using </a:t>
            </a:r>
            <a:r>
              <a:rPr lang="en-US" sz="1200" b="1" i="1" dirty="0" err="1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00" dirty="0"/>
          </a:p>
        </p:txBody>
      </p:sp>
      <p:sp>
        <p:nvSpPr>
          <p:cNvPr id="50" name="Text 30">
            <a:extLst>
              <a:ext uri="{FF2B5EF4-FFF2-40B4-BE49-F238E27FC236}">
                <a16:creationId xmlns:a16="http://schemas.microsoft.com/office/drawing/2014/main" id="{863BA220-1A13-AA6A-9DEA-746088D12A1C}"/>
              </a:ext>
            </a:extLst>
          </p:cNvPr>
          <p:cNvSpPr/>
          <p:nvPr/>
        </p:nvSpPr>
        <p:spPr>
          <a:xfrm>
            <a:off x="792480" y="6169152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MedAssist AI is available as a live web platform.</a:t>
            </a:r>
            <a:endParaRPr lang="en-US" sz="12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6C772A40-A84D-1159-35B9-4E9E843BA7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1959102"/>
            <a:ext cx="5181295" cy="27569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5202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FINAL PRESENTATION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Telling the complete story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documentation was prepared to explain the complete MedAssist AI system.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1657" y="2116836"/>
            <a:ext cx="3246120" cy="3063240"/>
          </a:xfrm>
          <a:prstGeom prst="roundRect">
            <a:avLst>
              <a:gd name="adj" fmla="val 2687"/>
            </a:avLst>
          </a:prstGeom>
          <a:solidFill>
            <a:srgbClr val="1A2E52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2276856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/home/claude/medassist/icons/file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95" y="2407615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23134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Includes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2926080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Project introduction &amp; objectives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8680" y="3145536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System architecture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3364992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Technologies used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" y="358444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Database design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68680" y="3803904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prediction workflow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8680" y="4023360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Patient &amp; doctor modules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8680" y="4242816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Testing &amp; validation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68680" y="4462272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Deployment process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68680" y="4681728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Results &amp; outcomes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68680" y="4901184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Future enhancements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78901" y="2112264"/>
            <a:ext cx="3246120" cy="3063240"/>
          </a:xfrm>
          <a:prstGeom prst="roundRect">
            <a:avLst>
              <a:gd name="adj" fmla="val 2687"/>
            </a:avLst>
          </a:prstGeom>
          <a:solidFill>
            <a:srgbClr val="1A2E52"/>
          </a:solidFill>
          <a:ln/>
        </p:spPr>
      </p:sp>
      <p:sp>
        <p:nvSpPr>
          <p:cNvPr id="20" name="Shape 17"/>
          <p:cNvSpPr/>
          <p:nvPr/>
        </p:nvSpPr>
        <p:spPr>
          <a:xfrm>
            <a:off x="4425696" y="2276856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1" descr="/home/claude/medassist/icons/chalk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455" y="2407615"/>
            <a:ext cx="241402" cy="24140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047488" y="23134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434840" y="292608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Explain project objectives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434840" y="3218688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Demonstrate major features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434840" y="3511296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Show AI prediction workflow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434840" y="3803904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Explain deployment architecture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434840" y="409651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Present project outcomes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9340596" y="3140964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0" name="Image 2" descr="/home/claude/medassist/icons/displ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7997" y="3288365"/>
            <a:ext cx="272125" cy="272125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863840" y="376275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 the platform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·  Milestone 4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B8D569A-89EB-E0E5-4D5C-C1BC680B74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4844" y="2228888"/>
            <a:ext cx="4966305" cy="26632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OUTCOME &amp; DEMONSTRATION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MedAssist AI — Final Outcome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 delivered across Milestone 4.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6118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167128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/home/claude/medassist/icons/circle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27" y="2257471"/>
            <a:ext cx="166787" cy="166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06654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disease prediction system validated</a:t>
            </a:r>
            <a:endParaRPr lang="en-US" sz="1060" dirty="0"/>
          </a:p>
        </p:txBody>
      </p:sp>
      <p:sp>
        <p:nvSpPr>
          <p:cNvPr id="9" name="Shape 6"/>
          <p:cNvSpPr/>
          <p:nvPr/>
        </p:nvSpPr>
        <p:spPr>
          <a:xfrm>
            <a:off x="4480560" y="2011680"/>
            <a:ext cx="36118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26864" y="2167128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/home/claude/medassist/icons/circle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7207" y="2257471"/>
            <a:ext cx="166787" cy="166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74920" y="206654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workflows tested end-to-end</a:t>
            </a:r>
            <a:endParaRPr lang="en-US" sz="1060" dirty="0"/>
          </a:p>
        </p:txBody>
      </p:sp>
      <p:sp>
        <p:nvSpPr>
          <p:cNvPr id="13" name="Shape 9"/>
          <p:cNvSpPr/>
          <p:nvPr/>
        </p:nvSpPr>
        <p:spPr>
          <a:xfrm>
            <a:off x="8321040" y="2011680"/>
            <a:ext cx="36118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67344" y="2167128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/home/claude/medassist/icons/circle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687" y="2257471"/>
            <a:ext cx="166787" cy="16678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15400" y="206654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and doctor dashboards optimized</a:t>
            </a:r>
            <a:endParaRPr lang="en-US" sz="1060" dirty="0"/>
          </a:p>
        </p:txBody>
      </p:sp>
      <p:sp>
        <p:nvSpPr>
          <p:cNvPr id="17" name="Shape 12"/>
          <p:cNvSpPr/>
          <p:nvPr/>
        </p:nvSpPr>
        <p:spPr>
          <a:xfrm>
            <a:off x="640080" y="2816352"/>
            <a:ext cx="36118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86384" y="2971800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3" descr="/home/claude/medassist/icons/circle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27" y="3062143"/>
            <a:ext cx="166787" cy="16678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34440" y="287121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and user-friendly interface</a:t>
            </a:r>
            <a:endParaRPr lang="en-US" sz="1060" dirty="0"/>
          </a:p>
        </p:txBody>
      </p:sp>
      <p:sp>
        <p:nvSpPr>
          <p:cNvPr id="21" name="Shape 15"/>
          <p:cNvSpPr/>
          <p:nvPr/>
        </p:nvSpPr>
        <p:spPr>
          <a:xfrm>
            <a:off x="4480560" y="2816352"/>
            <a:ext cx="36118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626864" y="2971800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3" name="Image 4" descr="/home/claude/medassist/icons/circle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7207" y="3062143"/>
            <a:ext cx="166787" cy="16678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074920" y="287121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 integrated</a:t>
            </a:r>
            <a:endParaRPr lang="en-US" sz="1060" dirty="0"/>
          </a:p>
        </p:txBody>
      </p:sp>
      <p:sp>
        <p:nvSpPr>
          <p:cNvPr id="25" name="Shape 18"/>
          <p:cNvSpPr/>
          <p:nvPr/>
        </p:nvSpPr>
        <p:spPr>
          <a:xfrm>
            <a:off x="8321040" y="2816352"/>
            <a:ext cx="36118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467344" y="2971800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7" name="Image 5" descr="/home/claude/medassist/icons/circle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687" y="3062143"/>
            <a:ext cx="166787" cy="16678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915400" y="287121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deployed on cloud</a:t>
            </a:r>
            <a:endParaRPr lang="en-US" sz="1060" dirty="0"/>
          </a:p>
        </p:txBody>
      </p:sp>
      <p:sp>
        <p:nvSpPr>
          <p:cNvPr id="29" name="Shape 21"/>
          <p:cNvSpPr/>
          <p:nvPr/>
        </p:nvSpPr>
        <p:spPr>
          <a:xfrm>
            <a:off x="640080" y="3621024"/>
            <a:ext cx="36118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786384" y="3776472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1" name="Image 6" descr="/home/claude/medassist/icons/circle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27" y="3866815"/>
            <a:ext cx="166787" cy="166787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234440" y="367588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deployed on Vercel</a:t>
            </a:r>
            <a:endParaRPr lang="en-US" sz="1060" dirty="0"/>
          </a:p>
        </p:txBody>
      </p:sp>
      <p:sp>
        <p:nvSpPr>
          <p:cNvPr id="33" name="Shape 24"/>
          <p:cNvSpPr/>
          <p:nvPr/>
        </p:nvSpPr>
        <p:spPr>
          <a:xfrm>
            <a:off x="4480560" y="3621024"/>
            <a:ext cx="36118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4626864" y="3776472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5" name="Image 7" descr="/home/claude/medassist/icons/circle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7207" y="3866815"/>
            <a:ext cx="166787" cy="166787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074920" y="367588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platform available for live demonstration</a:t>
            </a:r>
            <a:endParaRPr lang="en-US" sz="1060" dirty="0"/>
          </a:p>
        </p:txBody>
      </p:sp>
      <p:sp>
        <p:nvSpPr>
          <p:cNvPr id="37" name="Shape 27"/>
          <p:cNvSpPr/>
          <p:nvPr/>
        </p:nvSpPr>
        <p:spPr>
          <a:xfrm>
            <a:off x="8321040" y="3621024"/>
            <a:ext cx="36118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8467344" y="3776472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9" name="Image 8" descr="/home/claude/medassist/icons/circle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687" y="3866815"/>
            <a:ext cx="166787" cy="166787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8915400" y="367588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and presentation completed</a:t>
            </a:r>
            <a:endParaRPr lang="en-US" sz="1060" dirty="0"/>
          </a:p>
        </p:txBody>
      </p:sp>
      <p:sp>
        <p:nvSpPr>
          <p:cNvPr id="4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·  Milestone 4</a:t>
            </a:r>
            <a:endParaRPr lang="en-US" sz="950" dirty="0"/>
          </a:p>
        </p:txBody>
      </p:sp>
      <p:sp>
        <p:nvSpPr>
          <p:cNvPr id="4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635</Words>
  <Application>Microsoft Office PowerPoint</Application>
  <PresentationFormat>Widescreen</PresentationFormat>
  <Paragraphs>156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Devamithra A</cp:lastModifiedBy>
  <cp:revision>7</cp:revision>
  <dcterms:created xsi:type="dcterms:W3CDTF">2026-09-10T18:07:23Z</dcterms:created>
  <dcterms:modified xsi:type="dcterms:W3CDTF">2026-09-11T13:24:37Z</dcterms:modified>
</cp:coreProperties>
</file>