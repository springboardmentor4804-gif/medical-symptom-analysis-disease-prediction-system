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Diabetes</c:v>
                  </c:pt>
                  <c:pt idx="1">
                    <c:v>Hypertension</c:v>
                  </c:pt>
                  <c:pt idx="2">
                    <c:v>Asthma</c:v>
                  </c:pt>
                  <c:pt idx="3">
                    <c:v>Dengue</c:v>
                  </c:pt>
                  <c:pt idx="4">
                    <c:v>Malaria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27</c:v>
                </c:pt>
                <c:pt idx="2">
                  <c:v>18</c:v>
                </c:pt>
                <c:pt idx="3">
                  <c:v>14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00400" cy="32004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&amp; Analytics Dashboard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&amp; 6  •  Project Progress 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(Week 1–2) &amp; Milestone 2 (Week 3–4): Completed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 &amp; 6 — What This Milestone Covers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the disease prediction engine from Milestone 2, this phase turns predictions into actionable guidance and visual insight.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423160" cy="3291840"/>
          </a:xfrm>
          <a:prstGeom prst="roundRect">
            <a:avLst>
              <a:gd name="adj" fmla="val 3774"/>
            </a:avLst>
          </a:prstGeom>
          <a:solidFill>
            <a:srgbClr val="F4FAF9"/>
          </a:solidFill>
          <a:ln w="12700">
            <a:solidFill>
              <a:srgbClr val="D8E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606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337560"/>
            <a:ext cx="2020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Workflows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3931920"/>
            <a:ext cx="202082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recommendation logic built on prediction output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2331720"/>
            <a:ext cx="2423160" cy="3291840"/>
          </a:xfrm>
          <a:prstGeom prst="roundRect">
            <a:avLst>
              <a:gd name="adj" fmla="val 3774"/>
            </a:avLst>
          </a:prstGeom>
          <a:solidFill>
            <a:srgbClr val="F4FAF9"/>
          </a:solidFill>
          <a:ln w="12700">
            <a:solidFill>
              <a:srgbClr val="D8E8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606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47288" y="3337560"/>
            <a:ext cx="2020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&amp; Advisory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47288" y="3931920"/>
            <a:ext cx="202082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suggestions, preventive care advice, advisory features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2331720"/>
            <a:ext cx="2423160" cy="3291840"/>
          </a:xfrm>
          <a:prstGeom prst="roundRect">
            <a:avLst>
              <a:gd name="adj" fmla="val 3774"/>
            </a:avLst>
          </a:prstGeom>
          <a:solidFill>
            <a:srgbClr val="F4FAF9"/>
          </a:solidFill>
          <a:ln w="12700">
            <a:solidFill>
              <a:srgbClr val="D8E8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606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44768" y="3337560"/>
            <a:ext cx="2020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44768" y="3931920"/>
            <a:ext cx="202082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dashboards for prediction insights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41080" y="2331720"/>
            <a:ext cx="2423160" cy="3291840"/>
          </a:xfrm>
          <a:prstGeom prst="roundRect">
            <a:avLst>
              <a:gd name="adj" fmla="val 3774"/>
            </a:avLst>
          </a:prstGeom>
          <a:solidFill>
            <a:srgbClr val="F4FAF9"/>
          </a:solidFill>
          <a:ln w="12700">
            <a:solidFill>
              <a:srgbClr val="D8E8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2606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42248" y="3337560"/>
            <a:ext cx="2020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Trends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42248" y="3931920"/>
            <a:ext cx="202082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reports and health trend visualization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•  Milestone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 Recommendation Module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184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recommendations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9476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generated from disease prediction results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78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care suggestions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9077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steps to reduce escalation of risk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387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advice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38679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Diet, activity, and habit-based recommendations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59943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988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guidance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48280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consult a doctor / next steps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0680" y="1691640"/>
            <a:ext cx="5669280" cy="4206240"/>
          </a:xfrm>
          <a:prstGeom prst="rect">
            <a:avLst>
              <a:gd name="adj" fmla="val 1739"/>
            </a:avLst>
          </a:prstGeom>
          <a:solidFill>
            <a:srgbClr val="EAF6F4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440680" y="169164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UI — treatment suggestions, preventive care advice, advisory output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•  Milestone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Reports Module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184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reports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9476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model output per patient session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78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reports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9077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 and risk category breakdown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387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health summaries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38679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view of history + current findings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59943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988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reports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48280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PDF for patients / providers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0680" y="1691640"/>
            <a:ext cx="5669280" cy="4206240"/>
          </a:xfrm>
          <a:prstGeom prst="rect">
            <a:avLst>
              <a:gd name="adj" fmla="val 1739"/>
            </a:avLst>
          </a:prstGeom>
          <a:solidFill>
            <a:srgbClr val="EAF6F4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440680" y="169164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generated health report / downloadable PDF summary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•  Milestone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 Module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analytics   •   Symptom trend analysis   •   Healthcare insights   •   System performance monitoring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Disease Prediction Distribution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33172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1965960"/>
            <a:ext cx="5669280" cy="3931920"/>
          </a:xfrm>
          <a:prstGeom prst="rect">
            <a:avLst>
              <a:gd name="adj" fmla="val 1860"/>
            </a:avLst>
          </a:prstGeom>
          <a:solidFill>
            <a:srgbClr val="EAF6F4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989320" y="196596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UI — insights, trends, and system performance panel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•  Milestone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Trend Visualization Modules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insight layer built on top of the analytics dashboard — tracks how symptoms, diseases, and risk levels trend over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20640" cy="3794760"/>
          </a:xfrm>
          <a:prstGeom prst="rect">
            <a:avLst>
              <a:gd name="adj" fmla="val 1928"/>
            </a:avLst>
          </a:prstGeom>
          <a:solidFill>
            <a:srgbClr val="EAF6F4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2148840"/>
            <a:ext cx="51206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trend chart — symptom / disease trend over time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52160" y="2148840"/>
            <a:ext cx="5806440" cy="3794760"/>
          </a:xfrm>
          <a:prstGeom prst="rect">
            <a:avLst>
              <a:gd name="adj" fmla="val 1928"/>
            </a:avLst>
          </a:prstGeom>
          <a:solidFill>
            <a:srgbClr val="EAF6F4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852160" y="2148840"/>
            <a:ext cx="58064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distribution / population health insight view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•  Milestone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— Milestone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0F4A4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60520" y="15544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0F4A4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21031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/ Next.js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0" y="15544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0F4A4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01000" y="21031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0F4A4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29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MongoDB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60520" y="32461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0F4A4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3429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3794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0" y="32461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0F4A4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3429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01000" y="3794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•  Milestone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•  Milestone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&amp; Evaluation Criteria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OUTCOMES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30552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482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recommendation and healthcare analytics systems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52344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700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reporting and advisory workflows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91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AI-driven healthcare assistance concepts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95928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136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healthcare intelligence workflows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69164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F4FAF9"/>
          </a:solidFill>
          <a:ln w="12700">
            <a:solidFill>
              <a:srgbClr val="D8E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 — WEEK 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423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423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2368296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recommendation and analytics dashboard implemented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2644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264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3209544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reports and trend visualizations functional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41056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1056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405079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workflows integrated successfully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494690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946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4892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analytics generated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•  Milestone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 — Complete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engine, health reports, and analytics dashboard are functional and integrated.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Milestone 4 (Week 7 &amp; 8) — Testing, Deployment &amp; Documentation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2026-08-17T16:50:23Z</dcterms:created>
  <dcterms:modified xsi:type="dcterms:W3CDTF">2026-08-17T16:50:23Z</dcterms:modified>
</cp:coreProperties>
</file>