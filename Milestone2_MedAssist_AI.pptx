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5" r:id="rId7"/>
    <p:sldId id="266" r:id="rId8"/>
    <p:sldId id="260" r:id="rId9"/>
    <p:sldId id="267" r:id="rId10"/>
    <p:sldId id="261" r:id="rId11"/>
    <p:sldId id="262" r:id="rId12"/>
    <p:sldId id="269" r:id="rId13"/>
    <p:sldId id="263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754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53CC-F020-EAB0-06D3-3D4C5AC4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16483-0E9A-461E-1363-8B2E7B80A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2D8CC-03D1-BD5E-15E8-78D7BE775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1D230-238D-9E65-DC04-A7161ECF7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88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DF60A-89A2-C1E0-17A2-C920A720E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CEE26-EF00-5D44-80E2-1441598C8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6787C-3DDC-9CA3-4E51-C8DDB2813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89962-EB66-E887-82F6-F830D83BB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18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BCF9-28B4-6ED7-020B-F8E70735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D7043-86D8-F67F-C083-267E09EA6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64A89-9374-23CE-332C-3F2715789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B6F09-9591-AD2F-A94D-DBA5333430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53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2BD81-D0A5-7AA8-CE9F-F30D234D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B8F84-9DD9-0180-F8AE-F74197726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7F57D-C612-1D9F-9005-6D679329B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F88C8-BD40-C624-185D-E3E8CFCE1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99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D46D-025C-AEF3-2165-BAA2AE3A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64196-77C9-DE5D-87CD-95BE8C32F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9A0AF-E51E-B4C2-47BE-82AC9A2EA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14078-FB81-A5C0-DF9E-D5420EEFE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96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82A4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457200"/>
            <a:ext cx="2926080" cy="2926080"/>
          </a:xfrm>
          <a:prstGeom prst="ellipse">
            <a:avLst/>
          </a:prstGeom>
          <a:solidFill>
            <a:srgbClr val="1E88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5492" y="4343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icons/brain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532" y="7315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&amp; 4 — Disease Prediction &amp; Risk Assessment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41248" y="3794760"/>
            <a:ext cx="2011680" cy="0"/>
          </a:xfrm>
          <a:prstGeom prst="line">
            <a:avLst/>
          </a:prstGeom>
          <a:noFill/>
          <a:ln w="31750">
            <a:solidFill>
              <a:srgbClr val="5FD3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— Disease Prediction &amp; Risk Assessment System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Devamithra A</a:t>
            </a:r>
            <a:r>
              <a:rPr lang="en-US" sz="125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Infosys Springboard Internship 7.0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deliverables completed across weeks 3 &amp;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979676"/>
            <a:ext cx="658368" cy="65836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6" name="Image 0" descr="icons/cogs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21396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3794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7360" y="21488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disease prediction models on prepared healthcare datasets.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3396996"/>
            <a:ext cx="658368" cy="65836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1" name="Image 1" descr="icons/checkcircle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" y="35570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25526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737360" y="35661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model performance and prediction accuracy.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5262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0976" y="4814316"/>
            <a:ext cx="658368" cy="65836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6" name="Image 2" descr="icons/percentage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49743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67258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Reports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737360" y="49834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disease probability reports for each patient case.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169164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4536" y="1979676"/>
            <a:ext cx="658368" cy="65836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1" name="Image 3" descr="icons/tachometer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556" y="213969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183794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60920" y="21488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scoring engine to quantify overall patient health risk.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63640" y="310896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74536" y="3396996"/>
            <a:ext cx="658368" cy="65836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6" name="Image 4" descr="icons/exclamation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556" y="355701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325526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Analysis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360920" y="35661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workflows to analyze and classify severity levels.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63640" y="45262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74536" y="4814316"/>
            <a:ext cx="658368" cy="658368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31" name="Image 5" descr="icons/filemedical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4556" y="497433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467258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Risk Reports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60920" y="49834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comprehensive health risk reports for review.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Evaluation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prepared data to a validated prediction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96619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database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29004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1832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split, and structure the healthcare datasets.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693822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58998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6158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78378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s/cogs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234" y="290047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96158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123590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prediction models on symptom &amp; risk-factor data.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875581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140757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77917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660136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icons/checkdouble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993" y="2900477"/>
            <a:ext cx="416966" cy="41696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77917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305349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held-out data for generalization.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057339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322515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59675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841894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icons/chartline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751" y="2900477"/>
            <a:ext cx="416966" cy="41696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9675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487107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precision, recall, and overall accuracy.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239098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D3C4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504274" y="1965960"/>
            <a:ext cx="1907438" cy="3291840"/>
          </a:xfrm>
          <a:prstGeom prst="roundRect">
            <a:avLst>
              <a:gd name="adj" fmla="val 431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641434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0023653" y="26746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icons/flag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510" y="2900477"/>
            <a:ext cx="416966" cy="41696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41434" y="365760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668866" y="429768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best-performing model for deployment.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11C8A-104A-46BD-5015-A5CC3FA0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18">
            <a:extLst>
              <a:ext uri="{FF2B5EF4-FFF2-40B4-BE49-F238E27FC236}">
                <a16:creationId xmlns:a16="http://schemas.microsoft.com/office/drawing/2014/main" id="{DBDE9257-628A-6019-3AA0-7B9524A9949A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69AF34EC-A8AB-25E9-3EDD-D933A9AC32D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C3B9B9-7FD9-85F8-7BE4-F422D4090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52" y="1125575"/>
            <a:ext cx="8912036" cy="53483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Text 0">
            <a:extLst>
              <a:ext uri="{FF2B5EF4-FFF2-40B4-BE49-F238E27FC236}">
                <a16:creationId xmlns:a16="http://schemas.microsoft.com/office/drawing/2014/main" id="{F8857658-31F7-BC31-5C01-560C25B3BB57}"/>
              </a:ext>
            </a:extLst>
          </p:cNvPr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Prediction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1020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Probability Reports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translated into ranked, readable probability scores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2066544"/>
            <a:ext cx="621792" cy="62179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6" name="Image 0" descr="icons/percentage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Summary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45920" y="22585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likely conditions with probability scores.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23544" y="3483864"/>
            <a:ext cx="621792" cy="62179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1" name="Image 1" descr="icons/checkcircle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36347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3649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45920" y="36758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level attached to each prediction.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46177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3544" y="4901184"/>
            <a:ext cx="621792" cy="62179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6" name="Image 2" descr="icons/clipboardcheck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0520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7823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45920" y="50932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 based on top prediction.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178308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0B3866"/>
          </a:solidFill>
          <a:ln/>
        </p:spPr>
      </p:sp>
      <p:sp>
        <p:nvSpPr>
          <p:cNvPr id="20" name="Text 15"/>
          <p:cNvSpPr/>
          <p:nvPr/>
        </p:nvSpPr>
        <p:spPr>
          <a:xfrm>
            <a:off x="6537960" y="2039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 Output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37960" y="23865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format — values shown are examples only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5379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503920" y="2962656"/>
            <a:ext cx="219456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8503920" y="2962656"/>
            <a:ext cx="1711757" cy="219456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25" name="Text 20"/>
          <p:cNvSpPr/>
          <p:nvPr/>
        </p:nvSpPr>
        <p:spPr>
          <a:xfrm>
            <a:off x="10698480" y="2898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53796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503920" y="3712464"/>
            <a:ext cx="219456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8503920" y="3712464"/>
            <a:ext cx="1185062" cy="219456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29" name="Text 24"/>
          <p:cNvSpPr/>
          <p:nvPr/>
        </p:nvSpPr>
        <p:spPr>
          <a:xfrm>
            <a:off x="10698480" y="36484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537960" y="4425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503920" y="4462272"/>
            <a:ext cx="219456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8503920" y="4462272"/>
            <a:ext cx="724205" cy="219456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33" name="Text 28"/>
          <p:cNvSpPr/>
          <p:nvPr/>
        </p:nvSpPr>
        <p:spPr>
          <a:xfrm>
            <a:off x="10698480" y="43982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537960" y="5175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503920" y="5212080"/>
            <a:ext cx="219456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6" name="Shape 31"/>
          <p:cNvSpPr/>
          <p:nvPr/>
        </p:nvSpPr>
        <p:spPr>
          <a:xfrm>
            <a:off x="8503920" y="5212080"/>
            <a:ext cx="373075" cy="219456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37" name="Text 32"/>
          <p:cNvSpPr/>
          <p:nvPr/>
        </p:nvSpPr>
        <p:spPr>
          <a:xfrm>
            <a:off x="10698480" y="5148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BABF9-3F1C-43D0-750F-DF0072EC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33">
            <a:extLst>
              <a:ext uri="{FF2B5EF4-FFF2-40B4-BE49-F238E27FC236}">
                <a16:creationId xmlns:a16="http://schemas.microsoft.com/office/drawing/2014/main" id="{5F33CA8A-5AFB-38E3-4805-DE59D00204DD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279CDEEF-8D54-FC0F-456D-35545F71EF9E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B4375E3-6BA0-50D9-1CA6-4580F60E2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68" y="755970"/>
            <a:ext cx="10863531" cy="6090895"/>
          </a:xfrm>
          <a:prstGeom prst="rect">
            <a:avLst/>
          </a:prstGeom>
        </p:spPr>
      </p:pic>
      <p:sp>
        <p:nvSpPr>
          <p:cNvPr id="43" name="Text 0">
            <a:extLst>
              <a:ext uri="{FF2B5EF4-FFF2-40B4-BE49-F238E27FC236}">
                <a16:creationId xmlns:a16="http://schemas.microsoft.com/office/drawing/2014/main" id="{B18E91D4-7AE0-8DFF-DBC7-6C7936828D97}"/>
              </a:ext>
            </a:extLst>
          </p:cNvPr>
          <p:cNvSpPr/>
          <p:nvPr/>
        </p:nvSpPr>
        <p:spPr>
          <a:xfrm>
            <a:off x="640079" y="457200"/>
            <a:ext cx="5570939" cy="29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Result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767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45DCF-699B-BDB5-30EE-CDE0F558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33">
            <a:extLst>
              <a:ext uri="{FF2B5EF4-FFF2-40B4-BE49-F238E27FC236}">
                <a16:creationId xmlns:a16="http://schemas.microsoft.com/office/drawing/2014/main" id="{BB002D83-25F2-AE47-87DD-C64DC0E56569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4E5E9105-C15D-3CBA-E79A-711CEDA7AB4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BF25B-9C99-E984-05A9-F7673E0E6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36" y="1107801"/>
            <a:ext cx="10992928" cy="464239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36BCAD3-48B9-DE52-DD37-857720A3C6FA}"/>
              </a:ext>
            </a:extLst>
          </p:cNvPr>
          <p:cNvSpPr/>
          <p:nvPr/>
        </p:nvSpPr>
        <p:spPr>
          <a:xfrm>
            <a:off x="640079" y="457200"/>
            <a:ext cx="5570939" cy="29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History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5150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patient health risk into clear, actionable tiers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54396" y="1508760"/>
            <a:ext cx="1280160" cy="128016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5" name="Image 0" descr="icons/tachometer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292" y="1819656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" y="315468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25396" y="3474720"/>
            <a:ext cx="640080" cy="640080"/>
          </a:xfrm>
          <a:prstGeom prst="ellipse">
            <a:avLst/>
          </a:prstGeom>
          <a:solidFill>
            <a:srgbClr val="2FA66A"/>
          </a:solidFill>
          <a:ln/>
        </p:spPr>
      </p:sp>
      <p:sp>
        <p:nvSpPr>
          <p:cNvPr id="8" name="Text 5"/>
          <p:cNvSpPr/>
          <p:nvPr/>
        </p:nvSpPr>
        <p:spPr>
          <a:xfrm>
            <a:off x="905256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0976" y="47091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indicators present. Routine monitoring recommended.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79976" y="315468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74436" y="3474720"/>
            <a:ext cx="640080" cy="640080"/>
          </a:xfrm>
          <a:prstGeom prst="ellipse">
            <a:avLst/>
          </a:prstGeom>
          <a:solidFill>
            <a:srgbClr val="E0A429"/>
          </a:solidFill>
          <a:ln/>
        </p:spPr>
      </p:sp>
      <p:sp>
        <p:nvSpPr>
          <p:cNvPr id="12" name="Text 9"/>
          <p:cNvSpPr/>
          <p:nvPr/>
        </p:nvSpPr>
        <p:spPr>
          <a:xfrm>
            <a:off x="4654296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00016" y="47091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risk factors detected. Follow-up assessment advised.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29016" y="315468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523476" y="3474720"/>
            <a:ext cx="640080" cy="640080"/>
          </a:xfrm>
          <a:prstGeom prst="ellipse">
            <a:avLst/>
          </a:prstGeom>
          <a:solidFill>
            <a:srgbClr val="D8544B"/>
          </a:solidFill>
          <a:ln/>
        </p:spPr>
      </p:sp>
      <p:sp>
        <p:nvSpPr>
          <p:cNvPr id="16" name="Text 13"/>
          <p:cNvSpPr/>
          <p:nvPr/>
        </p:nvSpPr>
        <p:spPr>
          <a:xfrm>
            <a:off x="8403336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49056" y="47091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risk indicators. Immediate clinical review suggested.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2ACF9-C04A-0B9A-85E1-BC1851DB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33">
            <a:extLst>
              <a:ext uri="{FF2B5EF4-FFF2-40B4-BE49-F238E27FC236}">
                <a16:creationId xmlns:a16="http://schemas.microsoft.com/office/drawing/2014/main" id="{6DDE32A2-3AA9-2141-D10C-D08B81E0F7D6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080BB92D-B6ED-A2E4-C312-A20B9BC795D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BC1AA-7FC6-2920-C465-160BC1405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5" y="1340416"/>
            <a:ext cx="11426789" cy="4625741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8B7181F-0AF8-7ACE-6A8F-9FAF85084818}"/>
              </a:ext>
            </a:extLst>
          </p:cNvPr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Engine Result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5403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Analysis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symptom input to a flagged severity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874520"/>
            <a:ext cx="2304288" cy="356616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00784" y="26974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clipboard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29352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3749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Severity Input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438912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Patient-reported intensity captured alongside symptoms.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328416" y="34290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D3C4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630168" y="1874520"/>
            <a:ext cx="2304288" cy="356616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9476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25112" y="26974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s/cogs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93522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3749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813048" y="438912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weighted by clinical significance and combined.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952744" y="34290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D3C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54496" y="1874520"/>
            <a:ext cx="2304288" cy="356616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19088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949440" y="26974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icons/exclamation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93522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19088" y="3749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37376" y="438912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 mapped to a severity level.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577072" y="34290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D3C4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878824" y="1874520"/>
            <a:ext cx="2304288" cy="356616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E88C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043416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9573768" y="26974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icons/flag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2" y="2935224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43416" y="37490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061704" y="438912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cases flagged for priority review.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Risk Reports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output combining prediction, risk, and severity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08960" y="1691640"/>
            <a:ext cx="59436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A5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08960" y="1691640"/>
            <a:ext cx="5943600" cy="640080"/>
          </a:xfrm>
          <a:prstGeom prst="roundRect">
            <a:avLst>
              <a:gd name="adj" fmla="val 14286"/>
            </a:avLst>
          </a:prstGeom>
          <a:solidFill>
            <a:srgbClr val="0B3866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2057400"/>
            <a:ext cx="5943600" cy="274320"/>
          </a:xfrm>
          <a:prstGeom prst="rect">
            <a:avLst/>
          </a:prstGeom>
          <a:solidFill>
            <a:srgbClr val="0B3866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filemedical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8928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77640" y="180136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Risk Report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29000" y="2743200"/>
            <a:ext cx="548640" cy="54864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1" name="Image 1" descr="icons/usercheck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28712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2724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Summary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14800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demographics, and reported symptoms.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29000" y="3456432"/>
            <a:ext cx="5303520" cy="0"/>
          </a:xfrm>
          <a:prstGeom prst="line">
            <a:avLst/>
          </a:prstGeom>
          <a:noFill/>
          <a:ln w="12700">
            <a:solidFill>
              <a:srgbClr val="E4EE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29000" y="3584448"/>
            <a:ext cx="548640" cy="54864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6" name="Image 2" descr="icons/percentage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37124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Risk Score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114800" y="3877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disease predictions with overall risk score.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429000" y="4297680"/>
            <a:ext cx="5303520" cy="0"/>
          </a:xfrm>
          <a:prstGeom prst="line">
            <a:avLst/>
          </a:prstGeom>
          <a:noFill/>
          <a:ln w="12700">
            <a:solidFill>
              <a:srgbClr val="E4EE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429000" y="4425696"/>
            <a:ext cx="548640" cy="54864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1" name="Image 3" descr="icons/exclamation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5537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14800" y="4407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114800" y="4718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severity with escalation status.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29000" y="5138928"/>
            <a:ext cx="5303520" cy="0"/>
          </a:xfrm>
          <a:prstGeom prst="line">
            <a:avLst/>
          </a:prstGeom>
          <a:noFill/>
          <a:ln w="12700">
            <a:solidFill>
              <a:srgbClr val="E4EE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5266944"/>
            <a:ext cx="548640" cy="548640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6" name="Image 4" descr="icons/clipboardcheck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016" y="53949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14800" y="52486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14800" y="5559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 and follow-up actions.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704F5-C220-F84C-60E0-1775E07A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22">
            <a:extLst>
              <a:ext uri="{FF2B5EF4-FFF2-40B4-BE49-F238E27FC236}">
                <a16:creationId xmlns:a16="http://schemas.microsoft.com/office/drawing/2014/main" id="{CE72BF17-778E-22BB-A097-C4399DFD95DA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6FBF4765-FFC9-EE31-3223-02943C76C62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CC9ECA1-54D4-E2A5-B58B-31C9D8570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657" y="1174907"/>
            <a:ext cx="8626416" cy="5131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Text 0">
            <a:extLst>
              <a:ext uri="{FF2B5EF4-FFF2-40B4-BE49-F238E27FC236}">
                <a16:creationId xmlns:a16="http://schemas.microsoft.com/office/drawing/2014/main" id="{54F892E6-E6EA-7D8D-890C-C1139B80D9B1}"/>
              </a:ext>
            </a:extLst>
          </p:cNvPr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Risk Reports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5876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milestone establishes for the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81051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6" name="Image 0" descr="icons/brain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842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6243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&amp; Risk Assessment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953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working systems for disease prediction and patient risk assessment.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1051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1" name="Image 1" descr="icons/robot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9842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26243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Workflows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29400" y="2953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healthcare analytics workflows driven by AI predictions.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" y="400507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16" name="Image 2" descr="icons/graduationcap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1788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48188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 Healthcare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05840" y="51480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machine learning applications in healthcare.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005072"/>
            <a:ext cx="713232" cy="713232"/>
          </a:xfrm>
          <a:prstGeom prst="ellipse">
            <a:avLst/>
          </a:prstGeom>
          <a:solidFill>
            <a:srgbClr val="E4F0F8"/>
          </a:solidFill>
          <a:ln/>
        </p:spPr>
      </p:sp>
      <p:pic>
        <p:nvPicPr>
          <p:cNvPr id="21" name="Image 3" descr="icons/bolt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1788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48188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629400" y="51480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real-time disease prediction insights for faster decisions.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|  WEEK 3 &amp; 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082A4D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560320" cy="2560320"/>
          </a:xfrm>
          <a:prstGeom prst="ellipse">
            <a:avLst/>
          </a:prstGeom>
          <a:solidFill>
            <a:srgbClr val="1E88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08676" y="16916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brain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0116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Complete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09728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7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and risk assessment systems are live in MedAssist AI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80076" y="4709160"/>
            <a:ext cx="1828800" cy="0"/>
          </a:xfrm>
          <a:prstGeom prst="line">
            <a:avLst/>
          </a:prstGeom>
          <a:noFill/>
          <a:ln w="31750">
            <a:solidFill>
              <a:srgbClr val="5FD3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Milestone 3 — Integration, Testing &amp; Deployment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618</Words>
  <Application>Microsoft Office PowerPoint</Application>
  <PresentationFormat>Widescreen</PresentationFormat>
  <Paragraphs>151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Devamithra A</cp:lastModifiedBy>
  <cp:revision>6</cp:revision>
  <dcterms:created xsi:type="dcterms:W3CDTF">2026-08-12T02:23:31Z</dcterms:created>
  <dcterms:modified xsi:type="dcterms:W3CDTF">2026-08-13T13:27:19Z</dcterms:modified>
</cp:coreProperties>
</file>