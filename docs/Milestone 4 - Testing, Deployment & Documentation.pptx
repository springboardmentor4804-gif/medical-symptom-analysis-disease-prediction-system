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9" r:id="rId5"/>
    <p:sldId id="258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2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324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586" y="77"/>
      </p:cViewPr>
      <p:guideLst>
        <p:guide orient="horz" pos="1842"/>
        <p:guide pos="2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FEBF0A-0BAA-41D6-9782-DFD8FADD8516}"/>
              </a:ext>
            </a:extLst>
          </p:cNvPr>
          <p:cNvSpPr txBox="1"/>
          <p:nvPr/>
        </p:nvSpPr>
        <p:spPr>
          <a:xfrm>
            <a:off x="2764276" y="4873954"/>
            <a:ext cx="6663446" cy="85254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n-IN" sz="2500" b="1" i="0" u="sng" dirty="0">
                <a:solidFill>
                  <a:srgbClr val="F5F8FC"/>
                </a:solidFill>
                <a:latin typeface="Aptos"/>
              </a:rPr>
              <a:t>Milestone 4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</a:rPr>
              <a:t>Testing, Deployment &amp; Documentation</a:t>
            </a:r>
            <a:endParaRPr sz="250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97D29-7F2A-4C59-A5A9-A5D2CFC087DE}"/>
              </a:ext>
            </a:extLst>
          </p:cNvPr>
          <p:cNvSpPr txBox="1"/>
          <p:nvPr/>
        </p:nvSpPr>
        <p:spPr>
          <a:xfrm>
            <a:off x="2403322" y="1442224"/>
            <a:ext cx="7385355" cy="142192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lang="en-US" sz="4000" b="1" spc="-114" dirty="0" err="1">
                <a:solidFill>
                  <a:schemeClr val="bg2"/>
                </a:solidFill>
              </a:rPr>
              <a:t>MedAssist</a:t>
            </a:r>
            <a:r>
              <a:rPr lang="en-US" sz="4000" b="1" spc="-114" dirty="0">
                <a:solidFill>
                  <a:schemeClr val="bg2"/>
                </a:solidFill>
              </a:rPr>
              <a:t> </a:t>
            </a:r>
            <a:r>
              <a:rPr lang="en-US" sz="4000" b="1" spc="-795" dirty="0">
                <a:solidFill>
                  <a:schemeClr val="bg2"/>
                </a:solidFill>
              </a:rPr>
              <a:t>  </a:t>
            </a:r>
            <a:r>
              <a:rPr lang="en-US" sz="4000" b="1" spc="-395" dirty="0">
                <a:solidFill>
                  <a:schemeClr val="bg2"/>
                </a:solidFill>
              </a:rPr>
              <a:t>AI</a:t>
            </a:r>
            <a:br>
              <a:rPr lang="en-US" sz="3500" b="1" spc="-395" dirty="0">
                <a:solidFill>
                  <a:schemeClr val="bg2"/>
                </a:solidFill>
              </a:rPr>
            </a:br>
            <a:r>
              <a:rPr lang="en-US" sz="5000" b="1" dirty="0">
                <a:solidFill>
                  <a:schemeClr val="bg2"/>
                </a:solidFill>
              </a:rPr>
              <a:t>🏥</a:t>
            </a:r>
            <a:r>
              <a:rPr lang="en-US" sz="2800" b="1" dirty="0">
                <a:solidFill>
                  <a:schemeClr val="bg2"/>
                </a:solidFill>
              </a:rPr>
              <a:t>AI-Powered Healthcare Assistance Platform</a:t>
            </a:r>
            <a:endParaRPr sz="2800" b="1" i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FD8FB9E-F903-4A09-8F21-C7421981C798}"/>
              </a:ext>
            </a:extLst>
          </p:cNvPr>
          <p:cNvSpPr txBox="1"/>
          <p:nvPr/>
        </p:nvSpPr>
        <p:spPr>
          <a:xfrm>
            <a:off x="2157012" y="2970058"/>
            <a:ext cx="912335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Testing, Deployment &amp; Documentation </a:t>
            </a:r>
            <a:r>
              <a:rPr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sz="20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sz="20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sz="20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mentor</a:t>
            </a:r>
            <a:endParaRPr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B14F41C-8B6E-452D-9036-810B8B9119D0}"/>
              </a:ext>
            </a:extLst>
          </p:cNvPr>
          <p:cNvSpPr txBox="1"/>
          <p:nvPr/>
        </p:nvSpPr>
        <p:spPr>
          <a:xfrm>
            <a:off x="132295" y="6407001"/>
            <a:ext cx="299286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200" b="1" spc="-10" dirty="0" err="1">
                <a:solidFill>
                  <a:srgbClr val="FFC000"/>
                </a:solidFill>
                <a:latin typeface="Arial MT"/>
                <a:cs typeface="Arial MT"/>
              </a:rPr>
              <a:t>Karumanc</a:t>
            </a:r>
            <a:r>
              <a:rPr lang="en-IN" sz="1200" b="1" spc="-10" dirty="0">
                <a:solidFill>
                  <a:srgbClr val="FFC000"/>
                </a:solidFill>
                <a:latin typeface="Arial MT"/>
                <a:cs typeface="Arial MT"/>
              </a:rPr>
              <a:t>hi </a:t>
            </a:r>
            <a:r>
              <a:rPr lang="en-IN" sz="1200" b="1" dirty="0">
                <a:solidFill>
                  <a:srgbClr val="FFC000"/>
                </a:solidFill>
                <a:latin typeface="Arial MT"/>
                <a:cs typeface="Arial MT"/>
              </a:rPr>
              <a:t>Hemanth 	</a:t>
            </a:r>
            <a:r>
              <a:rPr lang="en-IN" sz="1200" b="1" spc="-10" dirty="0">
                <a:solidFill>
                  <a:srgbClr val="FFC000"/>
                </a:solidFill>
                <a:latin typeface="Arial MT"/>
                <a:cs typeface="Arial MT"/>
              </a:rPr>
              <a:t>10/09/2026</a:t>
            </a:r>
            <a:endParaRPr lang="en-IN" sz="1200" b="1" dirty="0">
              <a:solidFill>
                <a:srgbClr val="FFC000"/>
              </a:solidFill>
              <a:latin typeface="Arial MT"/>
              <a:cs typeface="Arial MT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C7AD89A-845F-45E7-9875-D9E038EFDB00}"/>
              </a:ext>
            </a:extLst>
          </p:cNvPr>
          <p:cNvSpPr txBox="1"/>
          <p:nvPr/>
        </p:nvSpPr>
        <p:spPr>
          <a:xfrm>
            <a:off x="8195651" y="6345446"/>
            <a:ext cx="413426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solidFill>
                  <a:srgbClr val="FFC000"/>
                </a:solidFill>
                <a:latin typeface="Arial MT"/>
                <a:cs typeface="Arial MT"/>
              </a:rPr>
              <a:t>Infosys Springboard Internship</a:t>
            </a:r>
            <a:endParaRPr sz="2000" b="1" dirty="0">
              <a:solidFill>
                <a:srgbClr val="FFC000"/>
              </a:solidFill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CA1B0-EB44-4363-A881-8C2891863B32}"/>
              </a:ext>
            </a:extLst>
          </p:cNvPr>
          <p:cNvSpPr txBox="1"/>
          <p:nvPr/>
        </p:nvSpPr>
        <p:spPr>
          <a:xfrm>
            <a:off x="5673960" y="150404"/>
            <a:ext cx="844077" cy="20621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FF9948"/>
                </a:solidFill>
                <a:latin typeface="Aptos"/>
              </a:rPr>
              <a:t>MILESTONE </a:t>
            </a:r>
            <a:r>
              <a:rPr lang="en-IN" sz="1100" b="1" i="0" dirty="0">
                <a:solidFill>
                  <a:srgbClr val="FF9948"/>
                </a:solidFill>
                <a:latin typeface="Aptos"/>
              </a:rPr>
              <a:t>4</a:t>
            </a:r>
            <a:endParaRPr sz="1100" b="1" i="0" dirty="0">
              <a:solidFill>
                <a:srgbClr val="FF994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2842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591798" y="1513332"/>
            <a:ext cx="6124886" cy="10525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IN" b="1" i="1" dirty="0">
                <a:solidFill>
                  <a:srgbClr val="36D2BE"/>
                </a:solidFill>
                <a:latin typeface="Aptos"/>
              </a:rPr>
              <a:t>Objective:</a:t>
            </a:r>
            <a:br>
              <a:rPr lang="en-IN" b="0" i="1" dirty="0">
                <a:solidFill>
                  <a:srgbClr val="36D2BE"/>
                </a:solidFill>
                <a:latin typeface="Aptos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To validate and improve the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MedAssist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AI platform, optimize AI workflows, strengthen usability, perform automated testing, and deploy the complete application using Docker and AWS.</a:t>
            </a:r>
            <a:endParaRPr lang="en-US" sz="1600" i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5800" y="6473952"/>
            <a:ext cx="3931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>
                <a:solidFill>
                  <a:srgbClr val="A3B4C9"/>
                </a:solidFill>
                <a:latin typeface="Aptos"/>
              </a:rPr>
              <a:t>MEDASSIST AI  |  INTERNSHIP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 i="0" dirty="0">
                <a:solidFill>
                  <a:srgbClr val="36D2BE"/>
                </a:solidFill>
                <a:latin typeface="Aptos"/>
              </a:rPr>
              <a:t>01</a:t>
            </a:r>
          </a:p>
        </p:txBody>
      </p:sp>
      <p:sp>
        <p:nvSpPr>
          <p:cNvPr id="39" name="object 14">
            <a:extLst>
              <a:ext uri="{FF2B5EF4-FFF2-40B4-BE49-F238E27FC236}">
                <a16:creationId xmlns:a16="http://schemas.microsoft.com/office/drawing/2014/main" id="{C7A75FFF-4B7E-4F7C-A101-ED73C4997AF7}"/>
              </a:ext>
            </a:extLst>
          </p:cNvPr>
          <p:cNvSpPr txBox="1"/>
          <p:nvPr/>
        </p:nvSpPr>
        <p:spPr>
          <a:xfrm>
            <a:off x="618230" y="2919656"/>
            <a:ext cx="5916982" cy="2536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Key Activities: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AI model validation and optimization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Combinatoric symptom augmentation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Symptom typo/synonym resolution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UI readability and contrast improvements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Care Plans module enhancement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Automated testing using </a:t>
            </a:r>
            <a:r>
              <a:rPr lang="en-IN" dirty="0" err="1">
                <a:solidFill>
                  <a:schemeClr val="bg1"/>
                </a:solidFill>
              </a:rPr>
              <a:t>Pytest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Docker containerization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AWS EC2 deployment</a:t>
            </a:r>
          </a:p>
        </p:txBody>
      </p:sp>
      <p:sp>
        <p:nvSpPr>
          <p:cNvPr id="40" name="object 8" descr="$PPTXTitle">
            <a:extLst>
              <a:ext uri="{FF2B5EF4-FFF2-40B4-BE49-F238E27FC236}">
                <a16:creationId xmlns:a16="http://schemas.microsoft.com/office/drawing/2014/main" id="{8E72CE45-D781-4DCC-BD7D-A0CB41DDF499}"/>
              </a:ext>
            </a:extLst>
          </p:cNvPr>
          <p:cNvSpPr txBox="1">
            <a:spLocks/>
          </p:cNvSpPr>
          <p:nvPr/>
        </p:nvSpPr>
        <p:spPr>
          <a:xfrm>
            <a:off x="260928" y="546713"/>
            <a:ext cx="4964543" cy="553334"/>
          </a:xfrm>
          <a:prstGeom prst="rect">
            <a:avLst/>
          </a:prstGeom>
        </p:spPr>
        <p:txBody>
          <a:bodyPr vert="horz" wrap="square" lIns="0" tIns="90783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000" b="1" spc="-95" dirty="0">
                <a:solidFill>
                  <a:schemeClr val="bg1"/>
                </a:solidFill>
              </a:rPr>
              <a:t>Milestone</a:t>
            </a:r>
            <a:r>
              <a:rPr lang="en-IN" sz="3000" b="1" spc="-455" dirty="0">
                <a:solidFill>
                  <a:schemeClr val="bg1"/>
                </a:solidFill>
              </a:rPr>
              <a:t>  4 </a:t>
            </a:r>
            <a:r>
              <a:rPr lang="en-IN" sz="3000" b="1" spc="-450" dirty="0">
                <a:solidFill>
                  <a:schemeClr val="bg1"/>
                </a:solidFill>
              </a:rPr>
              <a:t>   </a:t>
            </a:r>
            <a:r>
              <a:rPr lang="en-IN" sz="3000" b="1" spc="-125" dirty="0">
                <a:solidFill>
                  <a:schemeClr val="bg1"/>
                </a:solidFill>
              </a:rPr>
              <a:t>Deliverables</a:t>
            </a:r>
            <a:endParaRPr lang="en-IN" sz="3000" b="1" spc="-75" dirty="0">
              <a:solidFill>
                <a:schemeClr val="bg1"/>
              </a:solidFill>
            </a:endParaRPr>
          </a:p>
        </p:txBody>
      </p:sp>
      <p:grpSp>
        <p:nvGrpSpPr>
          <p:cNvPr id="41" name="object 9">
            <a:extLst>
              <a:ext uri="{FF2B5EF4-FFF2-40B4-BE49-F238E27FC236}">
                <a16:creationId xmlns:a16="http://schemas.microsoft.com/office/drawing/2014/main" id="{9EFD5045-EB17-44B8-9725-1C4BDB3E866D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42" name="object 10">
              <a:extLst>
                <a:ext uri="{FF2B5EF4-FFF2-40B4-BE49-F238E27FC236}">
                  <a16:creationId xmlns:a16="http://schemas.microsoft.com/office/drawing/2014/main" id="{C25E5C72-B425-4C49-B79F-9C99C2FAFFFB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1">
              <a:extLst>
                <a:ext uri="{FF2B5EF4-FFF2-40B4-BE49-F238E27FC236}">
                  <a16:creationId xmlns:a16="http://schemas.microsoft.com/office/drawing/2014/main" id="{EAD0A584-72CA-4FD0-9653-3928A00B008B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2">
              <a:extLst>
                <a:ext uri="{FF2B5EF4-FFF2-40B4-BE49-F238E27FC236}">
                  <a16:creationId xmlns:a16="http://schemas.microsoft.com/office/drawing/2014/main" id="{AB90A1C7-F80B-43D9-BD50-26E173C92F3F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B8A2A20-AC2E-4E0A-B416-5C7EC7FE6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714" y="546712"/>
            <a:ext cx="4004461" cy="58291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9815" y="623013"/>
            <a:ext cx="6121035" cy="52937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AI Model Optimization &amp; Validation</a:t>
            </a:r>
            <a:endParaRPr sz="3000" b="1" i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1121611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1363450" cy="1600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 dirty="0">
                <a:solidFill>
                  <a:srgbClr val="A3B4C9"/>
                </a:solidFill>
                <a:latin typeface="Aptos"/>
              </a:rPr>
              <a:t>MEDASSIST AI  |  MILESTONE </a:t>
            </a:r>
            <a:r>
              <a:rPr lang="en-IN" sz="800" b="1" i="0" dirty="0">
                <a:solidFill>
                  <a:srgbClr val="A3B4C9"/>
                </a:solidFill>
                <a:latin typeface="Aptos"/>
              </a:rPr>
              <a:t>4</a:t>
            </a:r>
            <a:endParaRPr sz="800" b="1" i="0" dirty="0">
              <a:solidFill>
                <a:srgbClr val="A3B4C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 i="0">
                <a:solidFill>
                  <a:srgbClr val="36D2BE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6596"/>
            <a:ext cx="4975978" cy="1652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1600" b="1" dirty="0">
                <a:solidFill>
                  <a:srgbClr val="FF9948"/>
                </a:solidFill>
                <a:latin typeface="Aptos"/>
              </a:rPr>
              <a:t>Disease Prediction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Random Forest Classifier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131 binary symptom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41 disease classes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Combinatoric symptom augmentation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4,502 augmented training samples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Designed to improve robustness for partial symptom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34350"/>
            <a:ext cx="3825509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IN" sz="1600" b="1" dirty="0">
                <a:solidFill>
                  <a:srgbClr val="FF9948"/>
                </a:solidFill>
                <a:latin typeface="Aptos"/>
              </a:rPr>
              <a:t>Validation Result</a:t>
            </a:r>
            <a:endParaRPr sz="1600" b="1" i="0" dirty="0">
              <a:solidFill>
                <a:srgbClr val="FF994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9868" y="6243096"/>
            <a:ext cx="35661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F5F8FC"/>
                </a:solidFill>
                <a:latin typeface="Aptos"/>
              </a:rPr>
              <a:t>Disease prediction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189" y="5536336"/>
            <a:ext cx="3506986" cy="34471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36D2BE"/>
                </a:solidFill>
                <a:latin typeface="Aptos"/>
              </a:rPr>
              <a:t>Prediction  →  Risk  →  Guidance</a:t>
            </a:r>
          </a:p>
        </p:txBody>
      </p:sp>
      <p:grpSp>
        <p:nvGrpSpPr>
          <p:cNvPr id="44" name="object 9">
            <a:extLst>
              <a:ext uri="{FF2B5EF4-FFF2-40B4-BE49-F238E27FC236}">
                <a16:creationId xmlns:a16="http://schemas.microsoft.com/office/drawing/2014/main" id="{05B8925C-99C5-49FB-92C3-18BC2B0EA06F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45" name="object 10">
              <a:extLst>
                <a:ext uri="{FF2B5EF4-FFF2-40B4-BE49-F238E27FC236}">
                  <a16:creationId xmlns:a16="http://schemas.microsoft.com/office/drawing/2014/main" id="{206E2DAF-8454-4EAA-B3E2-072EDEDCF94D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1">
              <a:extLst>
                <a:ext uri="{FF2B5EF4-FFF2-40B4-BE49-F238E27FC236}">
                  <a16:creationId xmlns:a16="http://schemas.microsoft.com/office/drawing/2014/main" id="{1A70729D-F103-45D1-B1EC-7C31FCE6CD92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2">
              <a:extLst>
                <a:ext uri="{FF2B5EF4-FFF2-40B4-BE49-F238E27FC236}">
                  <a16:creationId xmlns:a16="http://schemas.microsoft.com/office/drawing/2014/main" id="{3740241D-CF27-47D2-B838-A7FE8EF54B3F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3C8395D-FFA6-4E15-8EFF-8FED8F2D5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185983"/>
              </p:ext>
            </p:extLst>
          </p:nvPr>
        </p:nvGraphicFramePr>
        <p:xfrm>
          <a:off x="594360" y="3956146"/>
          <a:ext cx="7088690" cy="1280160"/>
        </p:xfrm>
        <a:graphic>
          <a:graphicData uri="http://schemas.openxmlformats.org/drawingml/2006/table">
            <a:tbl>
              <a:tblPr/>
              <a:tblGrid>
                <a:gridCol w="3544345">
                  <a:extLst>
                    <a:ext uri="{9D8B030D-6E8A-4147-A177-3AD203B41FA5}">
                      <a16:colId xmlns:a16="http://schemas.microsoft.com/office/drawing/2014/main" val="1502964423"/>
                    </a:ext>
                  </a:extLst>
                </a:gridCol>
                <a:gridCol w="3544345">
                  <a:extLst>
                    <a:ext uri="{9D8B030D-6E8A-4147-A177-3AD203B41FA5}">
                      <a16:colId xmlns:a16="http://schemas.microsoft.com/office/drawing/2014/main" val="2197951571"/>
                    </a:ext>
                  </a:extLst>
                </a:gridCol>
              </a:tblGrid>
              <a:tr h="233495"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017451"/>
                  </a:ext>
                </a:extLst>
              </a:tr>
              <a:tr h="233495"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Test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89.23%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522260"/>
                  </a:ext>
                </a:extLst>
              </a:tr>
              <a:tr h="233495"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Macro F1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89.33%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71511"/>
                  </a:ext>
                </a:extLst>
              </a:tr>
              <a:tr h="233495"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5-Fold CV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85.98% ± 0.51%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114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7958CD15-B230-4538-BC17-FC75D25B50AA}"/>
              </a:ext>
            </a:extLst>
          </p:cNvPr>
          <p:cNvSpPr txBox="1"/>
          <p:nvPr/>
        </p:nvSpPr>
        <p:spPr>
          <a:xfrm>
            <a:off x="6526028" y="1419815"/>
            <a:ext cx="3763594" cy="1437317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1600" b="1" dirty="0">
                <a:solidFill>
                  <a:srgbClr val="FF9948"/>
                </a:solidFill>
                <a:latin typeface="Aptos"/>
              </a:rPr>
              <a:t>Patient Risk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8 patient health and demographic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Random Forest-based classification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Accuracy: 92.16%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High-risk recall: 100% on evaluated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ROC-AUC: 97.69%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1832" y="612647"/>
            <a:ext cx="8542082" cy="52937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Robustness, Usability &amp; Functional Enhancements</a:t>
            </a:r>
            <a:endParaRPr sz="3000" b="1" i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1798" y="1111245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1363450" cy="1600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 dirty="0">
                <a:solidFill>
                  <a:srgbClr val="A3B4C9"/>
                </a:solidFill>
                <a:latin typeface="Aptos"/>
              </a:rPr>
              <a:t>MEDASSIST AI  |  MILESTONE </a:t>
            </a:r>
            <a:r>
              <a:rPr lang="en-IN" sz="800" b="1" i="0" dirty="0">
                <a:solidFill>
                  <a:srgbClr val="A3B4C9"/>
                </a:solidFill>
                <a:latin typeface="Aptos"/>
              </a:rPr>
              <a:t>4</a:t>
            </a:r>
            <a:endParaRPr sz="800" b="1" i="0" dirty="0">
              <a:solidFill>
                <a:srgbClr val="A3B4C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2064" y="6437376"/>
            <a:ext cx="170816" cy="175433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lang="en-IN" sz="900" b="1" i="0" dirty="0">
                <a:solidFill>
                  <a:srgbClr val="36D2BE"/>
                </a:solidFill>
                <a:latin typeface="Aptos"/>
              </a:rPr>
              <a:t>03</a:t>
            </a:r>
            <a:endParaRPr sz="900" b="1" i="0" dirty="0">
              <a:solidFill>
                <a:srgbClr val="36D2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865" y="1510996"/>
            <a:ext cx="5213800" cy="339169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System Improvements</a:t>
            </a:r>
            <a:br>
              <a:rPr lang="en-IN" dirty="0">
                <a:solidFill>
                  <a:schemeClr val="bg1"/>
                </a:solidFill>
                <a:latin typeface="Aptos"/>
              </a:rPr>
            </a:br>
            <a:endParaRPr lang="en-IN" dirty="0">
              <a:solidFill>
                <a:schemeClr val="bg1"/>
              </a:solidFill>
              <a:latin typeface="Aptos"/>
            </a:endParaRPr>
          </a:p>
          <a:p>
            <a:r>
              <a:rPr lang="en-IN" sz="1400" dirty="0">
                <a:solidFill>
                  <a:schemeClr val="bg1"/>
                </a:solidFill>
                <a:latin typeface="Aptos"/>
              </a:rPr>
              <a:t>1. </a:t>
            </a:r>
            <a:r>
              <a:rPr lang="en-IN" sz="1400" b="1" dirty="0">
                <a:solidFill>
                  <a:schemeClr val="bg1"/>
                </a:solidFill>
                <a:latin typeface="Aptos"/>
              </a:rPr>
              <a:t>Symptom Input Robustness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Added medical symptom alias dictionary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Added fuzzy string matching using Python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Improves symptom matching before prediction</a:t>
            </a:r>
            <a:br>
              <a:rPr lang="en-IN" sz="1400" dirty="0">
                <a:solidFill>
                  <a:schemeClr val="bg1"/>
                </a:solidFill>
                <a:latin typeface="Aptos"/>
              </a:rPr>
            </a:br>
            <a:endParaRPr lang="en-IN" sz="1400" dirty="0">
              <a:solidFill>
                <a:schemeClr val="bg1"/>
              </a:solidFill>
              <a:latin typeface="Aptos"/>
            </a:endParaRPr>
          </a:p>
          <a:p>
            <a:r>
              <a:rPr lang="en-IN" sz="1400" dirty="0">
                <a:solidFill>
                  <a:schemeClr val="bg1"/>
                </a:solidFill>
                <a:latin typeface="Aptos"/>
              </a:rPr>
              <a:t>2. </a:t>
            </a:r>
            <a:r>
              <a:rPr lang="en-IN" sz="1400" b="1" dirty="0">
                <a:solidFill>
                  <a:schemeClr val="bg1"/>
                </a:solidFill>
                <a:latin typeface="Aptos"/>
              </a:rPr>
              <a:t>UI Refinement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Improved contrast and readability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Refined interface elements for clearer user interaction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Improved dashboard usability</a:t>
            </a:r>
            <a:br>
              <a:rPr lang="en-IN" sz="1400" dirty="0">
                <a:solidFill>
                  <a:schemeClr val="bg1"/>
                </a:solidFill>
                <a:latin typeface="Aptos"/>
              </a:rPr>
            </a:br>
            <a:endParaRPr lang="en-IN" sz="1400" dirty="0">
              <a:solidFill>
                <a:schemeClr val="bg1"/>
              </a:solidFill>
              <a:latin typeface="Aptos"/>
            </a:endParaRPr>
          </a:p>
          <a:p>
            <a:r>
              <a:rPr lang="en-IN" sz="1400" dirty="0">
                <a:solidFill>
                  <a:schemeClr val="bg1"/>
                </a:solidFill>
                <a:latin typeface="Aptos"/>
              </a:rPr>
              <a:t>3</a:t>
            </a:r>
            <a:r>
              <a:rPr lang="en-IN" sz="1400" b="1" dirty="0">
                <a:solidFill>
                  <a:schemeClr val="bg1"/>
                </a:solidFill>
                <a:latin typeface="Aptos"/>
              </a:rPr>
              <a:t>. Care Plans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Added/enhanced Caretaker Care Plans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ptos"/>
              </a:rPr>
              <a:t>Caretakers can create and manage patient care-plan information</a:t>
            </a:r>
          </a:p>
        </p:txBody>
      </p:sp>
      <p:grpSp>
        <p:nvGrpSpPr>
          <p:cNvPr id="60" name="object 9">
            <a:extLst>
              <a:ext uri="{FF2B5EF4-FFF2-40B4-BE49-F238E27FC236}">
                <a16:creationId xmlns:a16="http://schemas.microsoft.com/office/drawing/2014/main" id="{5F085AA0-4E90-49A7-BE31-3AC3ECCA1245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61" name="object 10">
              <a:extLst>
                <a:ext uri="{FF2B5EF4-FFF2-40B4-BE49-F238E27FC236}">
                  <a16:creationId xmlns:a16="http://schemas.microsoft.com/office/drawing/2014/main" id="{7F22FC66-79D4-4286-847D-C8F5C34F86BE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1">
              <a:extLst>
                <a:ext uri="{FF2B5EF4-FFF2-40B4-BE49-F238E27FC236}">
                  <a16:creationId xmlns:a16="http://schemas.microsoft.com/office/drawing/2014/main" id="{67A59F81-C7CA-4D40-943A-FA0DF3F87B22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2">
              <a:extLst>
                <a:ext uri="{FF2B5EF4-FFF2-40B4-BE49-F238E27FC236}">
                  <a16:creationId xmlns:a16="http://schemas.microsoft.com/office/drawing/2014/main" id="{762FE3DF-ED74-4B92-943E-768C7E2913B9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Rounded Rectangle 5">
            <a:extLst>
              <a:ext uri="{FF2B5EF4-FFF2-40B4-BE49-F238E27FC236}">
                <a16:creationId xmlns:a16="http://schemas.microsoft.com/office/drawing/2014/main" id="{3AD940FB-7BED-46BF-9FB5-3E92C56E9069}"/>
              </a:ext>
            </a:extLst>
          </p:cNvPr>
          <p:cNvSpPr/>
          <p:nvPr/>
        </p:nvSpPr>
        <p:spPr>
          <a:xfrm>
            <a:off x="6123918" y="2118691"/>
            <a:ext cx="2362857" cy="529371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Basic symptom input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70" name="Rounded Rectangle 7">
            <a:extLst>
              <a:ext uri="{FF2B5EF4-FFF2-40B4-BE49-F238E27FC236}">
                <a16:creationId xmlns:a16="http://schemas.microsoft.com/office/drawing/2014/main" id="{B76BF04E-915A-4852-8884-38EC3F33F37F}"/>
              </a:ext>
            </a:extLst>
          </p:cNvPr>
          <p:cNvSpPr/>
          <p:nvPr/>
        </p:nvSpPr>
        <p:spPr>
          <a:xfrm>
            <a:off x="9273408" y="2088612"/>
            <a:ext cx="2516240" cy="529371"/>
          </a:xfrm>
          <a:prstGeom prst="roundRect">
            <a:avLst/>
          </a:prstGeom>
          <a:solidFill>
            <a:srgbClr val="FF9948"/>
          </a:solidFill>
          <a:ln w="10160">
            <a:solidFill>
              <a:srgbClr val="FF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More tolerant symptom input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B29FC37-0967-4FE4-82F3-D4797C7B8EAC}"/>
              </a:ext>
            </a:extLst>
          </p:cNvPr>
          <p:cNvSpPr/>
          <p:nvPr/>
        </p:nvSpPr>
        <p:spPr>
          <a:xfrm>
            <a:off x="8772525" y="2353297"/>
            <a:ext cx="214313" cy="1714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F6C8D1BA-4309-4733-8671-6FB6A2FF4F75}"/>
              </a:ext>
            </a:extLst>
          </p:cNvPr>
          <p:cNvSpPr/>
          <p:nvPr/>
        </p:nvSpPr>
        <p:spPr>
          <a:xfrm>
            <a:off x="6123918" y="3164314"/>
            <a:ext cx="2362857" cy="529371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Development UI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AC2035E-D9B1-4185-B673-7D1A6489E861}"/>
              </a:ext>
            </a:extLst>
          </p:cNvPr>
          <p:cNvSpPr/>
          <p:nvPr/>
        </p:nvSpPr>
        <p:spPr>
          <a:xfrm>
            <a:off x="8772525" y="3343274"/>
            <a:ext cx="214313" cy="1714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CF72B0A6-21A9-45BC-8BC9-282D94889DC9}"/>
              </a:ext>
            </a:extLst>
          </p:cNvPr>
          <p:cNvSpPr/>
          <p:nvPr/>
        </p:nvSpPr>
        <p:spPr>
          <a:xfrm>
            <a:off x="9272588" y="3164313"/>
            <a:ext cx="2516240" cy="529371"/>
          </a:xfrm>
          <a:prstGeom prst="roundRect">
            <a:avLst/>
          </a:prstGeom>
          <a:solidFill>
            <a:srgbClr val="FF9948"/>
          </a:solidFill>
          <a:ln w="10160">
            <a:solidFill>
              <a:srgbClr val="FF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Improved readability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3956F51E-68EA-46D1-93EF-953556CCC2B7}"/>
              </a:ext>
            </a:extLst>
          </p:cNvPr>
          <p:cNvSpPr/>
          <p:nvPr/>
        </p:nvSpPr>
        <p:spPr>
          <a:xfrm>
            <a:off x="9272588" y="4093945"/>
            <a:ext cx="2516240" cy="529371"/>
          </a:xfrm>
          <a:prstGeom prst="roundRect">
            <a:avLst/>
          </a:prstGeom>
          <a:solidFill>
            <a:srgbClr val="FF9948"/>
          </a:solidFill>
          <a:ln w="10160">
            <a:solidFill>
              <a:srgbClr val="FF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More tolerant symptom input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F4B9032-FCDC-42B5-8352-D3185FEE3E1C}"/>
              </a:ext>
            </a:extLst>
          </p:cNvPr>
          <p:cNvSpPr/>
          <p:nvPr/>
        </p:nvSpPr>
        <p:spPr>
          <a:xfrm>
            <a:off x="8772524" y="4247526"/>
            <a:ext cx="214313" cy="1714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A4CAC624-B057-4A76-8B57-5A41E3C6F972}"/>
              </a:ext>
            </a:extLst>
          </p:cNvPr>
          <p:cNvSpPr/>
          <p:nvPr/>
        </p:nvSpPr>
        <p:spPr>
          <a:xfrm>
            <a:off x="6123916" y="4068565"/>
            <a:ext cx="2362857" cy="529371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Patient monitoring</a:t>
            </a:r>
            <a:endParaRPr sz="11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3182" y="604778"/>
            <a:ext cx="4781886" cy="52937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Testing &amp; Quality Validation</a:t>
            </a:r>
            <a:endParaRPr sz="3000" b="1" i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1270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1363450" cy="1600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 dirty="0">
                <a:solidFill>
                  <a:srgbClr val="A3B4C9"/>
                </a:solidFill>
                <a:latin typeface="Aptos"/>
              </a:rPr>
              <a:t>MEDASSIST AI  |  MILESTONE </a:t>
            </a:r>
            <a:r>
              <a:rPr lang="en-IN" sz="800" b="1" i="0" dirty="0">
                <a:solidFill>
                  <a:srgbClr val="A3B4C9"/>
                </a:solidFill>
                <a:latin typeface="Aptos"/>
              </a:rPr>
              <a:t>4</a:t>
            </a:r>
            <a:endParaRPr sz="800" b="1" i="0" dirty="0">
              <a:solidFill>
                <a:srgbClr val="A3B4C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2064" y="6437376"/>
            <a:ext cx="170816" cy="175433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lang="en-IN" sz="900" b="1" i="0" dirty="0">
                <a:solidFill>
                  <a:srgbClr val="36D2BE"/>
                </a:solidFill>
                <a:latin typeface="Aptos"/>
              </a:rPr>
              <a:t>04</a:t>
            </a:r>
            <a:endParaRPr sz="900" b="1" i="0" dirty="0">
              <a:solidFill>
                <a:srgbClr val="36D2BE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96000" y="1826981"/>
            <a:ext cx="5386475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Unit/Service Tests → API Validation → Model Validation</a:t>
            </a:r>
            <a:endParaRPr b="1" i="1" dirty="0">
              <a:solidFill>
                <a:schemeClr val="bg1"/>
              </a:solidFill>
              <a:latin typeface="Aptos"/>
            </a:endParaRPr>
          </a:p>
        </p:txBody>
      </p:sp>
      <p:grpSp>
        <p:nvGrpSpPr>
          <p:cNvPr id="45" name="object 9">
            <a:extLst>
              <a:ext uri="{FF2B5EF4-FFF2-40B4-BE49-F238E27FC236}">
                <a16:creationId xmlns:a16="http://schemas.microsoft.com/office/drawing/2014/main" id="{0087AF75-595C-4F4F-B479-9189A49B8C59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46" name="object 10">
              <a:extLst>
                <a:ext uri="{FF2B5EF4-FFF2-40B4-BE49-F238E27FC236}">
                  <a16:creationId xmlns:a16="http://schemas.microsoft.com/office/drawing/2014/main" id="{93CA0FA5-0233-461C-AFF6-6146A53E95F6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1">
              <a:extLst>
                <a:ext uri="{FF2B5EF4-FFF2-40B4-BE49-F238E27FC236}">
                  <a16:creationId xmlns:a16="http://schemas.microsoft.com/office/drawing/2014/main" id="{EF33B1D4-2987-430A-9D04-8E7122EB603C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2">
              <a:extLst>
                <a:ext uri="{FF2B5EF4-FFF2-40B4-BE49-F238E27FC236}">
                  <a16:creationId xmlns:a16="http://schemas.microsoft.com/office/drawing/2014/main" id="{C713583F-5836-4CDF-BFC2-B849F3CE89A9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6A008A61-E616-46BE-8C2C-EFBFB31B6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68" y="1432534"/>
            <a:ext cx="5105400" cy="408615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ED0CFC8-B0C1-41B7-A761-776888BED0C2}"/>
              </a:ext>
            </a:extLst>
          </p:cNvPr>
          <p:cNvSpPr txBox="1"/>
          <p:nvPr/>
        </p:nvSpPr>
        <p:spPr>
          <a:xfrm>
            <a:off x="6301740" y="2710341"/>
            <a:ext cx="2287614" cy="166814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1600" b="1" u="sng" dirty="0">
                <a:solidFill>
                  <a:srgbClr val="FF9948"/>
                </a:solidFill>
                <a:latin typeface="Aptos"/>
              </a:rPr>
              <a:t>API Validation</a:t>
            </a:r>
            <a:br>
              <a:rPr lang="en-IN" sz="1600" b="1" dirty="0">
                <a:solidFill>
                  <a:srgbClr val="FF9948"/>
                </a:solidFill>
                <a:latin typeface="Aptos"/>
              </a:rPr>
            </a:br>
            <a:r>
              <a:rPr lang="en-IN" sz="1500" b="1" dirty="0">
                <a:solidFill>
                  <a:schemeClr val="bg1"/>
                </a:solidFill>
                <a:latin typeface="Aptos"/>
              </a:rPr>
              <a:t>Postman Collection</a:t>
            </a:r>
            <a:br>
              <a:rPr lang="en-IN" sz="1500" b="1" dirty="0">
                <a:solidFill>
                  <a:schemeClr val="bg1"/>
                </a:solidFill>
                <a:latin typeface="Aptos"/>
              </a:rPr>
            </a:br>
            <a:r>
              <a:rPr lang="en-IN" sz="1500" b="1" dirty="0">
                <a:solidFill>
                  <a:schemeClr val="bg1"/>
                </a:solidFill>
                <a:latin typeface="Aptos"/>
              </a:rPr>
              <a:t>      - </a:t>
            </a:r>
            <a:r>
              <a:rPr lang="en-US" sz="1500" b="1" dirty="0">
                <a:solidFill>
                  <a:schemeClr val="bg1"/>
                </a:solidFill>
                <a:latin typeface="Aptos"/>
              </a:rPr>
              <a:t>Authentication</a:t>
            </a:r>
          </a:p>
          <a:p>
            <a:r>
              <a:rPr lang="en-US" sz="1500" b="1" dirty="0">
                <a:solidFill>
                  <a:schemeClr val="bg1"/>
                </a:solidFill>
                <a:latin typeface="Aptos"/>
              </a:rPr>
              <a:t>      - AI prediction endpoints</a:t>
            </a:r>
          </a:p>
          <a:p>
            <a:r>
              <a:rPr lang="en-US" sz="1500" b="1" dirty="0">
                <a:solidFill>
                  <a:schemeClr val="bg1"/>
                </a:solidFill>
                <a:latin typeface="Aptos"/>
              </a:rPr>
              <a:t>      - Patient records</a:t>
            </a:r>
          </a:p>
          <a:p>
            <a:r>
              <a:rPr lang="en-US" sz="1500" b="1" dirty="0">
                <a:solidFill>
                  <a:schemeClr val="bg1"/>
                </a:solidFill>
                <a:latin typeface="Aptos"/>
              </a:rPr>
              <a:t>      - Caretaker modules</a:t>
            </a:r>
          </a:p>
          <a:p>
            <a:r>
              <a:rPr lang="en-US" sz="1500" b="1" dirty="0">
                <a:solidFill>
                  <a:schemeClr val="bg1"/>
                </a:solidFill>
                <a:latin typeface="Aptos"/>
              </a:rPr>
              <a:t>      - System health</a:t>
            </a:r>
            <a:endParaRPr lang="en-IN" sz="15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: MedAssist AI Architecture Diagram">
            <a:extLst>
              <a:ext uri="{FF2B5EF4-FFF2-40B4-BE49-F238E27FC236}">
                <a16:creationId xmlns:a16="http://schemas.microsoft.com/office/drawing/2014/main" id="{7008FC29-7993-495A-9BB3-DB3EAB02F3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909279" cy="490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AFBF-61FC-440B-B2C8-D00CE4044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07" y="1367250"/>
            <a:ext cx="5194093" cy="5003074"/>
          </a:xfrm>
          <a:prstGeom prst="rect">
            <a:avLst/>
          </a:prstGeom>
        </p:spPr>
      </p:pic>
      <p:grpSp>
        <p:nvGrpSpPr>
          <p:cNvPr id="7" name="object 9">
            <a:extLst>
              <a:ext uri="{FF2B5EF4-FFF2-40B4-BE49-F238E27FC236}">
                <a16:creationId xmlns:a16="http://schemas.microsoft.com/office/drawing/2014/main" id="{E0160E05-B661-4C30-8EF3-79107D0E1A3D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B83E0542-1DE1-4956-8005-7375D7E3F4AD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39BF6123-ECA3-4FE4-B450-C35A2ECEF05D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34F0A108-3494-4CDB-8307-C43F9DCFD8C4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64CD35-BD1B-4865-B244-AA72EAA6FB3A}"/>
              </a:ext>
            </a:extLst>
          </p:cNvPr>
          <p:cNvSpPr txBox="1"/>
          <p:nvPr/>
        </p:nvSpPr>
        <p:spPr>
          <a:xfrm>
            <a:off x="941832" y="612647"/>
            <a:ext cx="8517140" cy="52937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Dockerization</a:t>
            </a:r>
            <a:r>
              <a:rPr lang="en-US" sz="3200" b="1" dirty="0">
                <a:solidFill>
                  <a:schemeClr val="bg1"/>
                </a:solidFill>
              </a:rPr>
              <a:t>, AWS Deployment &amp; Final Outcome</a:t>
            </a:r>
            <a:endParaRPr sz="30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928B2-00BE-4004-A2CB-C51F520CDC7C}"/>
              </a:ext>
            </a:extLst>
          </p:cNvPr>
          <p:cNvSpPr txBox="1"/>
          <p:nvPr/>
        </p:nvSpPr>
        <p:spPr>
          <a:xfrm>
            <a:off x="591798" y="1466266"/>
            <a:ext cx="3825509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Containerization &amp; Cloud Deployment</a:t>
            </a:r>
            <a:endParaRPr sz="1600" b="1" i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3" name="Connector 3">
            <a:extLst>
              <a:ext uri="{FF2B5EF4-FFF2-40B4-BE49-F238E27FC236}">
                <a16:creationId xmlns:a16="http://schemas.microsoft.com/office/drawing/2014/main" id="{9ABE6B6A-285D-4685-BCC6-3CE45AB9A850}"/>
              </a:ext>
            </a:extLst>
          </p:cNvPr>
          <p:cNvCxnSpPr/>
          <p:nvPr/>
        </p:nvCxnSpPr>
        <p:spPr>
          <a:xfrm>
            <a:off x="566928" y="1131270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74DE59-05FC-48E3-941B-A842A6E2B4B4}"/>
              </a:ext>
            </a:extLst>
          </p:cNvPr>
          <p:cNvSpPr txBox="1"/>
          <p:nvPr/>
        </p:nvSpPr>
        <p:spPr>
          <a:xfrm>
            <a:off x="622755" y="2084415"/>
            <a:ext cx="5834674" cy="166814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r>
              <a:rPr lang="en-IN" sz="1600" b="1" dirty="0">
                <a:solidFill>
                  <a:srgbClr val="FF9948"/>
                </a:solidFill>
                <a:latin typeface="Aptos"/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/>
                </a:solidFill>
              </a:rPr>
              <a:t>Dockerized</a:t>
            </a:r>
            <a:r>
              <a:rPr lang="en-US" sz="1500" dirty="0">
                <a:solidFill>
                  <a:schemeClr val="bg1"/>
                </a:solidFill>
              </a:rPr>
              <a:t>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/>
                </a:solidFill>
              </a:rPr>
              <a:t>Dockerized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FastAPI</a:t>
            </a:r>
            <a:r>
              <a:rPr lang="en-US" sz="1500" dirty="0">
                <a:solidFill>
                  <a:schemeClr val="bg1"/>
                </a:solidFill>
              </a:rPr>
              <a:t>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PostgreSQL container with persistent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Docker Compose for multi-container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Deployed on AWS EC2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End-to-end application validation performed in the cloud environment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80836-0BD3-46EC-A6D2-2F0A12A62ECF}"/>
              </a:ext>
            </a:extLst>
          </p:cNvPr>
          <p:cNvSpPr txBox="1"/>
          <p:nvPr/>
        </p:nvSpPr>
        <p:spPr>
          <a:xfrm>
            <a:off x="683267" y="4349771"/>
            <a:ext cx="5774162" cy="102181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report describes the three-container Docker architecture and AWS EC2 deployment, and explicitly frames the deployment as demonstration/end-to-end validation rather than claiming production clinical deployment.</a:t>
            </a:r>
            <a:endParaRPr sz="1600" i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23DDD-0DF2-43C8-B003-CB56DD6A2423}"/>
              </a:ext>
            </a:extLst>
          </p:cNvPr>
          <p:cNvSpPr txBox="1"/>
          <p:nvPr/>
        </p:nvSpPr>
        <p:spPr>
          <a:xfrm>
            <a:off x="566928" y="6473952"/>
            <a:ext cx="1363450" cy="1600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 dirty="0">
                <a:solidFill>
                  <a:srgbClr val="A3B4C9"/>
                </a:solidFill>
                <a:latin typeface="Aptos"/>
              </a:rPr>
              <a:t>MEDASSIST AI  |  MILESTONE </a:t>
            </a:r>
            <a:r>
              <a:rPr lang="en-IN" sz="800" b="1" i="0" dirty="0">
                <a:solidFill>
                  <a:srgbClr val="A3B4C9"/>
                </a:solidFill>
                <a:latin typeface="Aptos"/>
              </a:rPr>
              <a:t>4</a:t>
            </a:r>
            <a:endParaRPr sz="800" b="1" i="0" dirty="0">
              <a:solidFill>
                <a:srgbClr val="A3B4C9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8D6747-0DC2-40F3-9C22-CB28343D5EEA}"/>
              </a:ext>
            </a:extLst>
          </p:cNvPr>
          <p:cNvSpPr txBox="1"/>
          <p:nvPr/>
        </p:nvSpPr>
        <p:spPr>
          <a:xfrm>
            <a:off x="11442064" y="6437376"/>
            <a:ext cx="170816" cy="175433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lang="en-IN" sz="900" b="1" i="0" dirty="0">
                <a:solidFill>
                  <a:srgbClr val="36D2BE"/>
                </a:solidFill>
                <a:latin typeface="Aptos"/>
              </a:rPr>
              <a:t>05</a:t>
            </a:r>
            <a:endParaRPr sz="900" b="1" i="0" dirty="0">
              <a:solidFill>
                <a:srgbClr val="36D2BE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7683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E5B014-D09A-4663-957A-6347FCF4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2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419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Hemanth Karumanchi</cp:lastModifiedBy>
  <cp:revision>9</cp:revision>
  <dcterms:created xsi:type="dcterms:W3CDTF">2013-01-27T09:14:16Z</dcterms:created>
  <dcterms:modified xsi:type="dcterms:W3CDTF">2026-09-10T09:57:10Z</dcterms:modified>
  <cp:category/>
</cp:coreProperties>
</file>