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82A4D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457200"/>
            <a:ext cx="2926080" cy="2926080"/>
          </a:xfrm>
          <a:prstGeom prst="ellipse">
            <a:avLst/>
          </a:prstGeom>
          <a:solidFill>
            <a:srgbClr val="1E88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12680" y="73152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10515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&amp; 2 — Project Initialization, Design Process &amp; Core Setup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41248" y="3794760"/>
            <a:ext cx="2011680" cy="0"/>
          </a:xfrm>
          <a:prstGeom prst="line">
            <a:avLst/>
          </a:prstGeom>
          <a:noFill/>
          <a:ln w="31750">
            <a:solidFill>
              <a:srgbClr val="5FD3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Disease Prediction &amp; Patient Management System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</a:t>
            </a:r>
            <a:pPr indent="0" marL="0">
              <a:buNone/>
            </a:pPr>
            <a:r>
              <a:rPr lang="en-US" sz="125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Infosys Internship 7.0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core deliverables completed across weeks 1 &amp;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1828800"/>
            <a:ext cx="566928" cy="56692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6" name="Image 0" descr="icons/clipboard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9659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Definition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00200" y="1984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healthcare workflows and core project objectives.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23544" y="2999232"/>
            <a:ext cx="566928" cy="56692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1" name="Image 1" descr="icons/sitemap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13639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62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0020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system architecture and database schema.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941064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3544" y="4169664"/>
            <a:ext cx="566928" cy="56692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6" name="Image 2" descr="icons/pencilruler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30682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32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00200" y="43251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UI wireframes and workflow planning.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5111496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" y="5340096"/>
            <a:ext cx="566928" cy="56692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1" name="Image 3" descr="icons/code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547725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202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600200" y="54955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frontend and backend development environments.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63640" y="1600200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47104" y="1828800"/>
            <a:ext cx="566928" cy="56692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6" name="Image 4" descr="icons/lock_prim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196596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2376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RBAC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223760" y="1984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authentication and role-based access control.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2770632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47104" y="2999232"/>
            <a:ext cx="566928" cy="56692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31" name="Image 5" descr="icons/database_prim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313639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2862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22376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symptom, disease prediction, and CDC BRFSS datasets.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63640" y="3941064"/>
            <a:ext cx="5257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547104" y="4169664"/>
            <a:ext cx="566928" cy="56692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36" name="Image 6" descr="icons/userinjured_prima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4306824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223760" y="4032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Workflows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7223760" y="43251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symptom collection and patient management workflows.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|  WEEK 1 &amp; 2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Workflow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capabilities driving the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81051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6" name="Image 0" descr="icons/stethoscope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9842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6243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Analysis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29535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intake and analysis of patient-reported symptoms as the foundation for prediction.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1051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1" name="Image 1" descr="icons/brain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19842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26243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29400" y="29535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classification that maps symptom patterns to likely disease outcomes.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" y="400507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6" name="Image 2" descr="icons/chartline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1788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481888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05840" y="51480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 risk scoring informed by behavioral and clinical risk factors.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00507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1" name="Image 3" descr="icons/userinjured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1788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29400" y="481888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29400" y="51480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tracking of patient profiles, history, and workflow status.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|  WEEK 1 &amp;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supporting prediction workflows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1997964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desktop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911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40680" y="192938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clinician-facing UI, role-based dashboards, symptom entry forms.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61888" y="28163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3C4"/>
                </a:solidFill>
              </a:rPr>
              <a:t>▾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944368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97864" y="315925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code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330555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30723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Backend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40680" y="309067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services, business logic, and authentication middleware.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61888" y="39776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3C4"/>
                </a:solidFill>
              </a:rPr>
              <a:t>▾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105656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97864" y="432054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icons/brain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446684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233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Engine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40680" y="42519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Symptom-to-disease classification and risk-scoring models.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961888" y="513892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D3C4"/>
                </a:solidFill>
              </a:rPr>
              <a:t>▾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" y="5266944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197864" y="548182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icons/database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562813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05740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40680" y="54132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for patients, symptoms, predictions, and datasets.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|  WEEK 1 &amp; 2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Wireframes &amp; Workflow Planning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navigation flow mapped before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48740" y="2217420"/>
            <a:ext cx="9491472" cy="0"/>
          </a:xfrm>
          <a:prstGeom prst="line">
            <a:avLst/>
          </a:prstGeom>
          <a:noFill/>
          <a:ln w="25400">
            <a:solidFill>
              <a:srgbClr val="C7DC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14400" y="1783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usershield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20089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783080"/>
            <a:ext cx="868680" cy="868680"/>
          </a:xfrm>
          <a:prstGeom prst="ellipse">
            <a:avLst/>
          </a:prstGeom>
          <a:ln w="22225">
            <a:solidFill>
              <a:srgbClr val="1E88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Role Select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87268" y="1783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desktop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25" y="2008937"/>
            <a:ext cx="416966" cy="41696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87268" y="1783080"/>
            <a:ext cx="868680" cy="868680"/>
          </a:xfrm>
          <a:prstGeom prst="ellipse">
            <a:avLst/>
          </a:prstGeom>
          <a:ln w="22225">
            <a:solidFill>
              <a:srgbClr val="1E88C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44368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0136" y="1783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clipboard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993" y="2008937"/>
            <a:ext cx="416966" cy="41696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660136" y="1783080"/>
            <a:ext cx="868680" cy="868680"/>
          </a:xfrm>
          <a:prstGeom prst="ellipse">
            <a:avLst/>
          </a:prstGeom>
          <a:ln w="22225">
            <a:solidFill>
              <a:srgbClr val="1E88C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317236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Entry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033004" y="1783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brain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1" y="2008937"/>
            <a:ext cx="416966" cy="41696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033004" y="1783080"/>
            <a:ext cx="868680" cy="868680"/>
          </a:xfrm>
          <a:prstGeom prst="ellipse">
            <a:avLst/>
          </a:prstGeom>
          <a:ln w="22225">
            <a:solidFill>
              <a:srgbClr val="1E88C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690104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10405872" y="1783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userinjured_prim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1729" y="2008937"/>
            <a:ext cx="416966" cy="416966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405872" y="1783080"/>
            <a:ext cx="868680" cy="868680"/>
          </a:xfrm>
          <a:prstGeom prst="ellipse">
            <a:avLst/>
          </a:prstGeom>
          <a:ln w="22225">
            <a:solidFill>
              <a:srgbClr val="1E88C7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0062972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22960" y="3611880"/>
            <a:ext cx="1054303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B9CFE0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5705856" y="4142232"/>
            <a:ext cx="777240" cy="77724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7" name="Image 5" descr="icons/image_prim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4329684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97280" y="502462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&amp; screen previews to be added here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|  WEEK 1 &amp; 2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 &amp; Access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foundation and secure role-based access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6" name="Image 0" descr="icons/code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84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Setup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59536" y="2697480"/>
            <a:ext cx="384048" cy="384048"/>
          </a:xfrm>
          <a:prstGeom prst="ellipse">
            <a:avLst/>
          </a:prstGeom>
          <a:solidFill>
            <a:srgbClr val="D3EDE9"/>
          </a:solidFill>
          <a:ln/>
        </p:spPr>
      </p:sp>
      <p:pic>
        <p:nvPicPr>
          <p:cNvPr id="9" name="Image 1" descr="icons/checkcircle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77977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project scaffolded with component-based structure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59536" y="3383280"/>
            <a:ext cx="384048" cy="384048"/>
          </a:xfrm>
          <a:prstGeom prst="ellipse">
            <a:avLst/>
          </a:prstGeom>
          <a:solidFill>
            <a:srgbClr val="D3EDE9"/>
          </a:solidFill>
          <a:ln/>
        </p:spPr>
      </p:sp>
      <p:pic>
        <p:nvPicPr>
          <p:cNvPr id="12" name="Image 2" descr="icons/checkcircle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46557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429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 configured with REST API foundations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59536" y="4069080"/>
            <a:ext cx="384048" cy="384048"/>
          </a:xfrm>
          <a:prstGeom prst="ellipse">
            <a:avLst/>
          </a:prstGeom>
          <a:solidFill>
            <a:srgbClr val="D3EDE9"/>
          </a:solidFill>
          <a:ln/>
        </p:spPr>
      </p:sp>
      <p:pic>
        <p:nvPicPr>
          <p:cNvPr id="15" name="Image 3" descr="icons/checkcircle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15137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114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layer established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59536" y="4754880"/>
            <a:ext cx="384048" cy="384048"/>
          </a:xfrm>
          <a:prstGeom prst="ellipse">
            <a:avLst/>
          </a:prstGeom>
          <a:solidFill>
            <a:srgbClr val="D3EDE9"/>
          </a:solidFill>
          <a:ln/>
        </p:spPr>
      </p:sp>
      <p:pic>
        <p:nvPicPr>
          <p:cNvPr id="18" name="Image 4" descr="icons/checkcircle_prim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83717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repository structure finalized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0B3866"/>
          </a:solidFill>
          <a:ln/>
        </p:spPr>
      </p:sp>
      <p:sp>
        <p:nvSpPr>
          <p:cNvPr id="21" name="Shape 14"/>
          <p:cNvSpPr/>
          <p:nvPr/>
        </p:nvSpPr>
        <p:spPr>
          <a:xfrm>
            <a:off x="6537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icons/lock_prim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984248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69480" y="1856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</a:t>
            </a:r>
            <a:endParaRPr lang="en-US" sz="1550" dirty="0"/>
          </a:p>
        </p:txBody>
      </p:sp>
      <p:sp>
        <p:nvSpPr>
          <p:cNvPr id="24" name="Shape 16"/>
          <p:cNvSpPr/>
          <p:nvPr/>
        </p:nvSpPr>
        <p:spPr>
          <a:xfrm>
            <a:off x="6629400" y="2834640"/>
            <a:ext cx="4526280" cy="841248"/>
          </a:xfrm>
          <a:prstGeom prst="roundRect">
            <a:avLst>
              <a:gd name="adj" fmla="val 760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858000" y="2980944"/>
            <a:ext cx="548640" cy="548640"/>
          </a:xfrm>
          <a:prstGeom prst="ellipse">
            <a:avLst/>
          </a:prstGeom>
          <a:solidFill>
            <a:srgbClr val="1E88C7"/>
          </a:solidFill>
          <a:ln/>
        </p:spPr>
      </p:sp>
      <p:pic>
        <p:nvPicPr>
          <p:cNvPr id="26" name="Image 6" descr="icons/userti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016" y="3108960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98080" y="2926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7498080" y="32369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access, user management, dataset control.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6629400" y="3840480"/>
            <a:ext cx="4526280" cy="841248"/>
          </a:xfrm>
          <a:prstGeom prst="roundRect">
            <a:avLst>
              <a:gd name="adj" fmla="val 760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6858000" y="3986784"/>
            <a:ext cx="548640" cy="548640"/>
          </a:xfrm>
          <a:prstGeom prst="ellipse">
            <a:avLst/>
          </a:prstGeom>
          <a:solidFill>
            <a:srgbClr val="1E88C7"/>
          </a:solidFill>
          <a:ln/>
        </p:spPr>
      </p:sp>
      <p:pic>
        <p:nvPicPr>
          <p:cNvPr id="31" name="Image 7" descr="icons/userm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4114800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498080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Clinician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7498080" y="42428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predictions, manages patient case records.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629400" y="4846320"/>
            <a:ext cx="4526280" cy="841248"/>
          </a:xfrm>
          <a:prstGeom prst="roundRect">
            <a:avLst>
              <a:gd name="adj" fmla="val 760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6858000" y="4992624"/>
            <a:ext cx="548640" cy="548640"/>
          </a:xfrm>
          <a:prstGeom prst="ellipse">
            <a:avLst/>
          </a:prstGeom>
          <a:solidFill>
            <a:srgbClr val="1E88C7"/>
          </a:solidFill>
          <a:ln/>
        </p:spPr>
      </p:sp>
      <p:pic>
        <p:nvPicPr>
          <p:cNvPr id="36" name="Image 8" descr="icons/use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016" y="5120640"/>
            <a:ext cx="292608" cy="29260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98080" y="4937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7498080" y="52486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symptoms, views personal risk and history.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|  WEEK 1 &amp; 2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Loaded for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powering symptom analysis, prediction, and risk workflows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69164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691640"/>
            <a:ext cx="3429000" cy="128016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911096" y="2171700"/>
            <a:ext cx="868680" cy="86868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7" name="Image 0" descr="icons/filemedical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3865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5256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Symptoms &amp; Patient Profile Dataset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symptom records used to correlate symptom clusters with profiles.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9976" y="169164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691640"/>
            <a:ext cx="3429000" cy="128016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660136" y="2171700"/>
            <a:ext cx="868680" cy="86868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3" name="Image 1" descr="icons/brain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3865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4296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Using Symptoms Dataset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54296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Symptom-to-diagnosis mappings that train the core prediction model.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9016" y="169164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29016" y="1691640"/>
            <a:ext cx="3429000" cy="128016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9409176" y="2171700"/>
            <a:ext cx="868680" cy="86868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9" name="Image 2" descr="icons/chartbar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38658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03336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BRFSS Dataset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03336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Risk Factor Surveillance data for population-level risk assessment.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|  WEEK 1 &amp; 2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Collection &amp; Patient Management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intake to stored, analyzable records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96619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userplus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29004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41832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patient identity and profile details.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693822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D3C4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58998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96158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78378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icons/edit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34" y="290047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96158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Input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123590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symptom entry through guided forms.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875581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D3C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140757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77917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660136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icons/checkdouble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993" y="2900477"/>
            <a:ext cx="416966" cy="41696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77917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305349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completeness and consistency.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057339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D3C4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322515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59675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841894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icons/chartline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751" y="2900477"/>
            <a:ext cx="416966" cy="41696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59675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487107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scored against prediction &amp; risk models.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239098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D3C4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504274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641434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0023653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icons/save_prim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510" y="2900477"/>
            <a:ext cx="416966" cy="41696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41434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Storage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668866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persisted to the patient management system.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|  WEEK 1 &amp; 2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milestone establishes for the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81051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6" name="Image 0" descr="icons/brain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9842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6243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29535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applying AI to disease prediction and clinical decision support.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1051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1" name="Image 1" descr="icons/sitemap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19842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26243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DB Design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29400" y="29535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knowledge of system architecture and relational database design.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" y="400507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6" name="Image 2" descr="icons/code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1788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481888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Foundation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005840" y="51480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functioning project scaffold ready for feature development.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00507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1" name="Image 3" descr="icons/checkcircle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1788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29400" y="481888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Auth &amp; Symptom System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29400" y="51480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functioning authentication layer and symptom management workflow.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|  WEEK 1 &amp;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082A4D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572000"/>
            <a:ext cx="2560320" cy="2560320"/>
          </a:xfrm>
          <a:prstGeom prst="ellipse">
            <a:avLst/>
          </a:prstGeom>
          <a:solidFill>
            <a:srgbClr val="1E88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08676" y="16916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20116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Complete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set for AI-driven disease prediction and patient management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80076" y="4709160"/>
            <a:ext cx="1828800" cy="0"/>
          </a:xfrm>
          <a:prstGeom prst="line">
            <a:avLst/>
          </a:prstGeom>
          <a:noFill/>
          <a:ln w="31750">
            <a:solidFill>
              <a:srgbClr val="5FD3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Milestone 2 — Model Development &amp; Feature Implementation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2026-07-31T05:38:37Z</dcterms:created>
  <dcterms:modified xsi:type="dcterms:W3CDTF">2026-07-31T05:38:37Z</dcterms:modified>
</cp:coreProperties>
</file>