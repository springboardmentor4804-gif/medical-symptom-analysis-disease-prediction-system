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5" autoAdjust="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106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1533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6334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759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547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936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4588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5671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085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145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1282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9621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316164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3247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308299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850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3119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417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2672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  <p:sldLayoutId id="2147483735" r:id="rId15"/>
    <p:sldLayoutId id="2147483736" r:id="rId16"/>
    <p:sldLayoutId id="214748373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21579" y="3782291"/>
            <a:ext cx="515666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23E44"/>
                </a:solidFill>
              </a:defRPr>
            </a:pPr>
            <a:r>
              <a:rPr lang="en-IN" sz="2000" dirty="0"/>
              <a:t>INFOSYS SPRINGBOARD INTERNSHIP</a:t>
            </a:r>
            <a:endParaRPr sz="2000" dirty="0"/>
          </a:p>
        </p:txBody>
      </p:sp>
      <p:sp>
        <p:nvSpPr>
          <p:cNvPr id="4" name="Rounded Rectangle 3"/>
          <p:cNvSpPr/>
          <p:nvPr/>
        </p:nvSpPr>
        <p:spPr>
          <a:xfrm>
            <a:off x="606829" y="1138843"/>
            <a:ext cx="11039302" cy="2643448"/>
          </a:xfrm>
          <a:prstGeom prst="roundRect">
            <a:avLst/>
          </a:prstGeom>
          <a:solidFill>
            <a:srgbClr val="EBFAF8"/>
          </a:solidFill>
          <a:ln>
            <a:solidFill>
              <a:srgbClr val="14C6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/>
            </a:pPr>
            <a:r>
              <a:rPr lang="en-IN" sz="4400" b="1" u="sng" dirty="0" err="1">
                <a:solidFill>
                  <a:schemeClr val="bg2">
                    <a:lumMod val="75000"/>
                  </a:schemeClr>
                </a:solidFill>
              </a:rPr>
              <a:t>MedAssist</a:t>
            </a:r>
            <a:r>
              <a:rPr lang="en-IN" sz="4400" b="1" u="sng" dirty="0">
                <a:solidFill>
                  <a:schemeClr val="bg2">
                    <a:lumMod val="75000"/>
                  </a:schemeClr>
                </a:solidFill>
              </a:rPr>
              <a:t> AI</a:t>
            </a:r>
          </a:p>
          <a:p>
            <a:pPr algn="ctr">
              <a:defRPr sz="2400"/>
            </a:pPr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🏥 AI-Powered Healthcare Assistance Platform</a:t>
            </a:r>
            <a:endParaRPr lang="en-IN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DE924F-7B07-4156-AEA9-4D1DAA2E6FCB}"/>
              </a:ext>
            </a:extLst>
          </p:cNvPr>
          <p:cNvSpPr txBox="1"/>
          <p:nvPr/>
        </p:nvSpPr>
        <p:spPr>
          <a:xfrm>
            <a:off x="5245331" y="6518072"/>
            <a:ext cx="11970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rPr lang="en-IN" sz="1400" dirty="0">
                <a:solidFill>
                  <a:schemeClr val="bg1"/>
                </a:solidFill>
              </a:rPr>
              <a:t>Milestone 1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E4AAAC9-A717-4CC8-8814-1416AFFFABFE}"/>
              </a:ext>
            </a:extLst>
          </p:cNvPr>
          <p:cNvSpPr/>
          <p:nvPr/>
        </p:nvSpPr>
        <p:spPr>
          <a:xfrm>
            <a:off x="9750828" y="5444836"/>
            <a:ext cx="2136371" cy="94765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 sz="2000"/>
            </a:pPr>
            <a:r>
              <a:rPr lang="en-US" sz="1200" b="1" dirty="0">
                <a:solidFill>
                  <a:prstClr val="black"/>
                </a:solidFill>
              </a:rPr>
              <a:t>Presented by:</a:t>
            </a:r>
          </a:p>
          <a:p>
            <a:pPr lvl="0">
              <a:defRPr sz="2000"/>
            </a:pPr>
            <a:r>
              <a:rPr lang="en-US" sz="1200" b="1" dirty="0">
                <a:solidFill>
                  <a:prstClr val="black"/>
                </a:solidFill>
              </a:rPr>
              <a:t>Hemanth </a:t>
            </a:r>
            <a:r>
              <a:rPr lang="en-US" sz="1200" b="1" dirty="0" err="1">
                <a:solidFill>
                  <a:prstClr val="black"/>
                </a:solidFill>
              </a:rPr>
              <a:t>Karumanchi</a:t>
            </a:r>
            <a:endParaRPr lang="en-US" sz="1200" b="1" dirty="0">
              <a:solidFill>
                <a:prstClr val="black"/>
              </a:solidFill>
            </a:endParaRPr>
          </a:p>
          <a:p>
            <a:pPr lvl="0">
              <a:defRPr sz="2000"/>
            </a:pPr>
            <a:r>
              <a:rPr lang="en-US" sz="1200" b="1" dirty="0" err="1">
                <a:solidFill>
                  <a:prstClr val="black"/>
                </a:solidFill>
              </a:rPr>
              <a:t>B.Tech</a:t>
            </a:r>
            <a:r>
              <a:rPr lang="en-US" sz="1200" b="1" dirty="0">
                <a:solidFill>
                  <a:prstClr val="black"/>
                </a:solidFill>
              </a:rPr>
              <a:t> – CSE</a:t>
            </a:r>
          </a:p>
        </p:txBody>
      </p:sp>
      <p:pic>
        <p:nvPicPr>
          <p:cNvPr id="1028" name="Picture 4" descr="Computer Icons Hospital Favicon Desktop, View Details Icon, blue, line png  | PNGEgg">
            <a:extLst>
              <a:ext uri="{FF2B5EF4-FFF2-40B4-BE49-F238E27FC236}">
                <a16:creationId xmlns:a16="http://schemas.microsoft.com/office/drawing/2014/main" id="{4E5EA27B-62C8-4631-AB33-4B62720802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815" y="5918661"/>
            <a:ext cx="1104554" cy="6400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AutoShape 6" descr="Friendly Medical Assistant Robot Illustration, Medical Robot, Ai Assistant,  Healthcare Technology PNG Transparent Image and Clipart for Free Download">
            <a:extLst>
              <a:ext uri="{FF2B5EF4-FFF2-40B4-BE49-F238E27FC236}">
                <a16:creationId xmlns:a16="http://schemas.microsoft.com/office/drawing/2014/main" id="{800C498E-9C8E-4D11-B49D-999FD04A189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442364" y="4926675"/>
            <a:ext cx="1629294" cy="1629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" name="AutoShape 8" descr="Friendly Medical Assistant Robot Illustration, Medical Robot, Ai Assistant,  Healthcare Technology PNG Transparent Image and Clipart for Free Download">
            <a:extLst>
              <a:ext uri="{FF2B5EF4-FFF2-40B4-BE49-F238E27FC236}">
                <a16:creationId xmlns:a16="http://schemas.microsoft.com/office/drawing/2014/main" id="{620F5698-AA53-4142-A5E8-6A0C55B84DC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951614" y="4621874"/>
            <a:ext cx="1197033" cy="1197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1800" y="325120"/>
            <a:ext cx="2194832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E44"/>
                </a:solidFill>
              </a:defRPr>
            </a:pPr>
            <a:r>
              <a:rPr sz="3000" dirty="0"/>
              <a:t>Objectives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31800" y="879118"/>
            <a:ext cx="11328400" cy="5230737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14C6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Wingdings" panose="05000000000000000000" pitchFamily="2" charset="2"/>
              <a:buChar char="q"/>
              <a:defRPr sz="2200"/>
            </a:pPr>
            <a:r>
              <a:rPr b="1" dirty="0">
                <a:solidFill>
                  <a:schemeClr val="bg2">
                    <a:lumMod val="75000"/>
                  </a:schemeClr>
                </a:solidFill>
              </a:rPr>
              <a:t>Secure Authentication</a:t>
            </a:r>
            <a:endParaRPr lang="en-IN" b="1" dirty="0">
              <a:solidFill>
                <a:schemeClr val="bg2">
                  <a:lumMod val="75000"/>
                </a:schemeClr>
              </a:solidFill>
            </a:endParaRPr>
          </a:p>
          <a:p>
            <a:pPr>
              <a:defRPr sz="2200"/>
            </a:pPr>
            <a:r>
              <a:rPr lang="en-IN" sz="1200" dirty="0">
                <a:solidFill>
                  <a:schemeClr val="bg2">
                    <a:lumMod val="75000"/>
                  </a:schemeClr>
                </a:solidFill>
              </a:rPr>
              <a:t>	Role based access for Patients &amp; Caretakers</a:t>
            </a:r>
          </a:p>
          <a:p>
            <a:pPr marL="342900" indent="-342900">
              <a:buFont typeface="Wingdings" panose="05000000000000000000" pitchFamily="2" charset="2"/>
              <a:buChar char="q"/>
              <a:defRPr sz="2200"/>
            </a:pPr>
            <a:r>
              <a:rPr b="1" dirty="0">
                <a:solidFill>
                  <a:schemeClr val="bg2">
                    <a:lumMod val="75000"/>
                  </a:schemeClr>
                </a:solidFill>
              </a:rPr>
              <a:t>AI Disease Prediction</a:t>
            </a:r>
            <a:endParaRPr lang="en-IN" b="1" dirty="0">
              <a:solidFill>
                <a:schemeClr val="bg2">
                  <a:lumMod val="75000"/>
                </a:schemeClr>
              </a:solidFill>
            </a:endParaRPr>
          </a:p>
          <a:p>
            <a:pPr>
              <a:defRPr sz="2200"/>
            </a:pPr>
            <a:r>
              <a:rPr lang="en-IN" sz="1200" b="1" dirty="0">
                <a:solidFill>
                  <a:schemeClr val="bg2">
                    <a:lumMod val="75000"/>
                  </a:schemeClr>
                </a:solidFill>
              </a:rPr>
              <a:t>	</a:t>
            </a:r>
            <a:r>
              <a:rPr lang="en-IN" sz="1200" dirty="0">
                <a:solidFill>
                  <a:schemeClr val="bg2">
                    <a:lumMod val="75000"/>
                  </a:schemeClr>
                </a:solidFill>
              </a:rPr>
              <a:t>Symptoms-based disease prediction</a:t>
            </a:r>
          </a:p>
          <a:p>
            <a:pPr marL="342900" indent="-342900">
              <a:buFont typeface="Wingdings" panose="05000000000000000000" pitchFamily="2" charset="2"/>
              <a:buChar char="q"/>
              <a:defRPr sz="2200"/>
            </a:pPr>
            <a:r>
              <a:rPr b="1" dirty="0">
                <a:solidFill>
                  <a:schemeClr val="bg2">
                    <a:lumMod val="75000"/>
                  </a:schemeClr>
                </a:solidFill>
              </a:rPr>
              <a:t>Digital Medical Reports</a:t>
            </a:r>
            <a:endParaRPr lang="en-IN" b="1" dirty="0">
              <a:solidFill>
                <a:schemeClr val="bg2">
                  <a:lumMod val="75000"/>
                </a:schemeClr>
              </a:solidFill>
            </a:endParaRPr>
          </a:p>
          <a:p>
            <a:pPr>
              <a:defRPr sz="2200"/>
            </a:pPr>
            <a:r>
              <a:rPr lang="en-IN" sz="1200" b="1" dirty="0">
                <a:solidFill>
                  <a:schemeClr val="bg2">
                    <a:lumMod val="75000"/>
                  </a:schemeClr>
                </a:solidFill>
              </a:rPr>
              <a:t>	</a:t>
            </a:r>
            <a:r>
              <a:rPr lang="en-IN" sz="1200" dirty="0">
                <a:solidFill>
                  <a:schemeClr val="bg2">
                    <a:lumMod val="75000"/>
                  </a:schemeClr>
                </a:solidFill>
              </a:rPr>
              <a:t>Secure report management</a:t>
            </a:r>
            <a:endParaRPr lang="en-IN" sz="1200" b="1" dirty="0">
              <a:solidFill>
                <a:schemeClr val="bg2">
                  <a:lumMod val="75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  <a:defRPr sz="2200"/>
            </a:pPr>
            <a:r>
              <a:rPr b="1" dirty="0">
                <a:solidFill>
                  <a:schemeClr val="bg2">
                    <a:lumMod val="75000"/>
                  </a:schemeClr>
                </a:solidFill>
              </a:rPr>
              <a:t>Caretaker Assignment</a:t>
            </a:r>
            <a:endParaRPr lang="en-IN" b="1" dirty="0">
              <a:solidFill>
                <a:schemeClr val="bg2">
                  <a:lumMod val="75000"/>
                </a:schemeClr>
              </a:solidFill>
            </a:endParaRPr>
          </a:p>
          <a:p>
            <a:pPr>
              <a:defRPr sz="2200"/>
            </a:pPr>
            <a:r>
              <a:rPr lang="en-IN" sz="1200" dirty="0">
                <a:solidFill>
                  <a:schemeClr val="bg2">
                    <a:lumMod val="75000"/>
                  </a:schemeClr>
                </a:solidFill>
              </a:rPr>
              <a:t>	Patient-caretaker collaboration</a:t>
            </a:r>
          </a:p>
          <a:p>
            <a:pPr marL="342900" indent="-342900">
              <a:buFont typeface="Wingdings" panose="05000000000000000000" pitchFamily="2" charset="2"/>
              <a:buChar char="q"/>
              <a:defRPr sz="2200"/>
            </a:pPr>
            <a:r>
              <a:rPr b="1" dirty="0">
                <a:solidFill>
                  <a:schemeClr val="bg2">
                    <a:lumMod val="75000"/>
                  </a:schemeClr>
                </a:solidFill>
              </a:rPr>
              <a:t>Centralized Healthcare</a:t>
            </a:r>
            <a:r>
              <a:rPr lang="en-IN" b="1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b="1" dirty="0" err="1">
                <a:solidFill>
                  <a:schemeClr val="bg2">
                    <a:lumMod val="75000"/>
                  </a:schemeClr>
                </a:solidFill>
              </a:rPr>
              <a:t>Managemen</a:t>
            </a:r>
            <a:r>
              <a:rPr lang="en-IN" b="1" dirty="0">
                <a:solidFill>
                  <a:schemeClr val="bg2">
                    <a:lumMod val="75000"/>
                  </a:schemeClr>
                </a:solidFill>
              </a:rPr>
              <a:t>t</a:t>
            </a:r>
          </a:p>
          <a:p>
            <a:pPr>
              <a:defRPr sz="2200"/>
            </a:pPr>
            <a:r>
              <a:rPr lang="en-IN" sz="1200" b="1" dirty="0">
                <a:solidFill>
                  <a:schemeClr val="bg2">
                    <a:lumMod val="75000"/>
                  </a:schemeClr>
                </a:solidFill>
              </a:rPr>
              <a:t>	</a:t>
            </a:r>
            <a:r>
              <a:rPr lang="en-IN" sz="1200" dirty="0">
                <a:solidFill>
                  <a:schemeClr val="bg2">
                    <a:lumMod val="75000"/>
                  </a:schemeClr>
                </a:solidFill>
              </a:rPr>
              <a:t>Unified healthcare platform</a:t>
            </a:r>
            <a:endParaRPr sz="1200" b="1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914640" y="1083070"/>
            <a:ext cx="2743200" cy="384048"/>
          </a:xfrm>
          <a:prstGeom prst="roundRect">
            <a:avLst/>
          </a:prstGeom>
          <a:solidFill>
            <a:srgbClr val="14C6B4"/>
          </a:solidFill>
          <a:ln>
            <a:solidFill>
              <a:srgbClr val="14C6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rPr dirty="0"/>
              <a:t>Patient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14640" y="1599191"/>
            <a:ext cx="2743200" cy="384048"/>
          </a:xfrm>
          <a:prstGeom prst="roundRect">
            <a:avLst/>
          </a:prstGeom>
          <a:solidFill>
            <a:srgbClr val="14C6B4"/>
          </a:solidFill>
          <a:ln>
            <a:solidFill>
              <a:srgbClr val="14C6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rPr dirty="0"/>
              <a:t>Register/Login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14640" y="2127691"/>
            <a:ext cx="2743200" cy="384048"/>
          </a:xfrm>
          <a:prstGeom prst="roundRect">
            <a:avLst/>
          </a:prstGeom>
          <a:solidFill>
            <a:srgbClr val="14C6B4"/>
          </a:solidFill>
          <a:ln>
            <a:solidFill>
              <a:srgbClr val="14C6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rPr dirty="0"/>
              <a:t>Create Profile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14640" y="2653985"/>
            <a:ext cx="2743200" cy="384048"/>
          </a:xfrm>
          <a:prstGeom prst="roundRect">
            <a:avLst/>
          </a:prstGeom>
          <a:solidFill>
            <a:srgbClr val="14C6B4"/>
          </a:solidFill>
          <a:ln>
            <a:solidFill>
              <a:srgbClr val="14C6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rPr dirty="0"/>
              <a:t>Enter Symptoms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14640" y="3200101"/>
            <a:ext cx="2743200" cy="384048"/>
          </a:xfrm>
          <a:prstGeom prst="roundRect">
            <a:avLst/>
          </a:prstGeom>
          <a:solidFill>
            <a:srgbClr val="14C6B4"/>
          </a:solidFill>
          <a:ln>
            <a:solidFill>
              <a:srgbClr val="14C6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rPr dirty="0"/>
              <a:t>AI Prediction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14640" y="3789149"/>
            <a:ext cx="2743200" cy="384048"/>
          </a:xfrm>
          <a:prstGeom prst="roundRect">
            <a:avLst/>
          </a:prstGeom>
          <a:solidFill>
            <a:srgbClr val="14C6B4"/>
          </a:solidFill>
          <a:ln>
            <a:solidFill>
              <a:srgbClr val="14C6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rPr dirty="0"/>
              <a:t>Recommendations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14640" y="4335265"/>
            <a:ext cx="2743200" cy="384048"/>
          </a:xfrm>
          <a:prstGeom prst="roundRect">
            <a:avLst/>
          </a:prstGeom>
          <a:solidFill>
            <a:srgbClr val="14C6B4"/>
          </a:solidFill>
          <a:ln>
            <a:solidFill>
              <a:srgbClr val="14C6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Upload Reports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14640" y="4874761"/>
            <a:ext cx="2743200" cy="384048"/>
          </a:xfrm>
          <a:prstGeom prst="roundRect">
            <a:avLst/>
          </a:prstGeom>
          <a:solidFill>
            <a:srgbClr val="14C6B4"/>
          </a:solidFill>
          <a:ln>
            <a:solidFill>
              <a:srgbClr val="14C6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rPr dirty="0"/>
              <a:t>Assign Caretaker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14640" y="5414257"/>
            <a:ext cx="2743200" cy="384048"/>
          </a:xfrm>
          <a:prstGeom prst="roundRect">
            <a:avLst/>
          </a:prstGeom>
          <a:solidFill>
            <a:srgbClr val="14C6B4"/>
          </a:solidFill>
          <a:ln>
            <a:solidFill>
              <a:srgbClr val="14C6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rPr dirty="0"/>
              <a:t>Caretaker Dashboard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3520" y="579120"/>
            <a:ext cx="7717177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E44"/>
                </a:solidFill>
              </a:defRPr>
            </a:pPr>
            <a:r>
              <a:rPr sz="3000" dirty="0"/>
              <a:t>Technology Stack &amp; 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2143760"/>
            <a:ext cx="2286000" cy="18288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14C6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/>
            </a:pPr>
            <a:r>
              <a:rPr sz="2500" u="sng" dirty="0">
                <a:solidFill>
                  <a:schemeClr val="bg2">
                    <a:lumMod val="75000"/>
                  </a:schemeClr>
                </a:solidFill>
              </a:rPr>
              <a:t>Frontend</a:t>
            </a:r>
          </a:p>
          <a:p>
            <a:pPr>
              <a:defRPr sz="1600"/>
            </a:pPr>
            <a:r>
              <a:rPr sz="1500" b="1" dirty="0">
                <a:solidFill>
                  <a:schemeClr val="bg2">
                    <a:lumMod val="75000"/>
                  </a:schemeClr>
                </a:solidFill>
              </a:rPr>
              <a:t>React</a:t>
            </a:r>
            <a:br>
              <a:rPr sz="1500" b="1" dirty="0">
                <a:solidFill>
                  <a:schemeClr val="bg2">
                    <a:lumMod val="75000"/>
                  </a:schemeClr>
                </a:solidFill>
              </a:rPr>
            </a:br>
            <a:r>
              <a:rPr sz="1500" b="1" dirty="0" err="1">
                <a:solidFill>
                  <a:schemeClr val="bg2">
                    <a:lumMod val="75000"/>
                  </a:schemeClr>
                </a:solidFill>
              </a:rPr>
              <a:t>Vite</a:t>
            </a:r>
            <a:br>
              <a:rPr sz="1500" b="1" dirty="0">
                <a:solidFill>
                  <a:schemeClr val="bg2">
                    <a:lumMod val="75000"/>
                  </a:schemeClr>
                </a:solidFill>
              </a:rPr>
            </a:br>
            <a:r>
              <a:rPr sz="1500" b="1" dirty="0">
                <a:solidFill>
                  <a:schemeClr val="bg2">
                    <a:lumMod val="75000"/>
                  </a:schemeClr>
                </a:solidFill>
              </a:rPr>
              <a:t>React Router</a:t>
            </a:r>
            <a:br>
              <a:rPr sz="1500" b="1" dirty="0">
                <a:solidFill>
                  <a:schemeClr val="bg2">
                    <a:lumMod val="75000"/>
                  </a:schemeClr>
                </a:solidFill>
              </a:rPr>
            </a:br>
            <a:r>
              <a:rPr sz="1500" b="1" dirty="0">
                <a:solidFill>
                  <a:schemeClr val="bg2">
                    <a:lumMod val="75000"/>
                  </a:schemeClr>
                </a:solidFill>
              </a:rPr>
              <a:t>CSS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17520" y="2143760"/>
            <a:ext cx="2286000" cy="18288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14C6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/>
            </a:pPr>
            <a:r>
              <a:rPr sz="2500" u="sng" dirty="0">
                <a:solidFill>
                  <a:schemeClr val="bg2">
                    <a:lumMod val="75000"/>
                  </a:schemeClr>
                </a:solidFill>
              </a:rPr>
              <a:t>Backend</a:t>
            </a:r>
          </a:p>
          <a:p>
            <a:pPr>
              <a:defRPr sz="1600"/>
            </a:pPr>
            <a:r>
              <a:rPr sz="1500" b="1" dirty="0" err="1">
                <a:solidFill>
                  <a:schemeClr val="bg2">
                    <a:lumMod val="75000"/>
                  </a:schemeClr>
                </a:solidFill>
              </a:rPr>
              <a:t>FastAPI</a:t>
            </a:r>
            <a:br>
              <a:rPr sz="1500" b="1" dirty="0">
                <a:solidFill>
                  <a:schemeClr val="bg2">
                    <a:lumMod val="75000"/>
                  </a:schemeClr>
                </a:solidFill>
              </a:rPr>
            </a:br>
            <a:r>
              <a:rPr sz="1500" b="1" dirty="0">
                <a:solidFill>
                  <a:schemeClr val="bg2">
                    <a:lumMod val="75000"/>
                  </a:schemeClr>
                </a:solidFill>
              </a:rPr>
              <a:t>REST APIs</a:t>
            </a:r>
            <a:br>
              <a:rPr sz="1500" b="1" dirty="0">
                <a:solidFill>
                  <a:schemeClr val="bg2">
                    <a:lumMod val="75000"/>
                  </a:schemeClr>
                </a:solidFill>
              </a:rPr>
            </a:br>
            <a:r>
              <a:rPr sz="1500" b="1" dirty="0" err="1">
                <a:solidFill>
                  <a:schemeClr val="bg2">
                    <a:lumMod val="75000"/>
                  </a:schemeClr>
                </a:solidFill>
              </a:rPr>
              <a:t>Pydantic</a:t>
            </a:r>
            <a:endParaRPr sz="1500" b="1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365760" y="4307840"/>
            <a:ext cx="2286000" cy="18288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14C6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/>
            </a:pPr>
            <a:r>
              <a:rPr sz="2500" u="sng" dirty="0">
                <a:solidFill>
                  <a:schemeClr val="bg2">
                    <a:lumMod val="75000"/>
                  </a:schemeClr>
                </a:solidFill>
              </a:rPr>
              <a:t>Database</a:t>
            </a:r>
          </a:p>
          <a:p>
            <a:pPr>
              <a:defRPr sz="1600"/>
            </a:pPr>
            <a:r>
              <a:rPr sz="1500" b="1" dirty="0">
                <a:solidFill>
                  <a:schemeClr val="bg2">
                    <a:lumMod val="75000"/>
                  </a:schemeClr>
                </a:solidFill>
              </a:rPr>
              <a:t>PostgreSQL</a:t>
            </a:r>
            <a:br>
              <a:rPr sz="1500" b="1" dirty="0">
                <a:solidFill>
                  <a:schemeClr val="bg2">
                    <a:lumMod val="75000"/>
                  </a:schemeClr>
                </a:solidFill>
              </a:rPr>
            </a:br>
            <a:r>
              <a:rPr sz="1500" b="1" dirty="0" err="1">
                <a:solidFill>
                  <a:schemeClr val="bg2">
                    <a:lumMod val="75000"/>
                  </a:schemeClr>
                </a:solidFill>
              </a:rPr>
              <a:t>SQLAlchemy</a:t>
            </a:r>
            <a:r>
              <a:rPr sz="1500" b="1" dirty="0">
                <a:solidFill>
                  <a:schemeClr val="bg2">
                    <a:lumMod val="75000"/>
                  </a:schemeClr>
                </a:solidFill>
              </a:rPr>
              <a:t> 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17520" y="4307840"/>
            <a:ext cx="2286000" cy="18288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14C6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/>
            </a:pPr>
            <a:r>
              <a:rPr sz="2500" u="sng" dirty="0">
                <a:solidFill>
                  <a:schemeClr val="bg2">
                    <a:lumMod val="75000"/>
                  </a:schemeClr>
                </a:solidFill>
              </a:rPr>
              <a:t>Security</a:t>
            </a:r>
          </a:p>
          <a:p>
            <a:pPr>
              <a:defRPr sz="1600"/>
            </a:pPr>
            <a:r>
              <a:rPr sz="1500" b="1" dirty="0">
                <a:solidFill>
                  <a:schemeClr val="bg2">
                    <a:lumMod val="75000"/>
                  </a:schemeClr>
                </a:solidFill>
              </a:rPr>
              <a:t>JWT</a:t>
            </a:r>
            <a:br>
              <a:rPr sz="1500" b="1" dirty="0">
                <a:solidFill>
                  <a:schemeClr val="bg2">
                    <a:lumMod val="75000"/>
                  </a:schemeClr>
                </a:solidFill>
              </a:rPr>
            </a:br>
            <a:r>
              <a:rPr sz="1500" b="1" dirty="0">
                <a:solidFill>
                  <a:schemeClr val="bg2">
                    <a:lumMod val="75000"/>
                  </a:schemeClr>
                </a:solidFill>
              </a:rPr>
              <a:t>RBAC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59880" y="1706880"/>
            <a:ext cx="50292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14C6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chemeClr val="bg2">
                    <a:lumMod val="75000"/>
                  </a:schemeClr>
                </a:solidFill>
              </a:rPr>
              <a:t>Application Workflow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bg2">
                    <a:lumMod val="75000"/>
                  </a:schemeClr>
                </a:solidFill>
              </a:rPr>
              <a:t>Users authenticate securely using JWT.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bg2">
                    <a:lumMod val="75000"/>
                  </a:schemeClr>
                </a:solidFill>
              </a:rPr>
              <a:t>React frontend sends API requests to </a:t>
            </a:r>
            <a:r>
              <a:rPr lang="en-US" sz="1700" dirty="0" err="1">
                <a:solidFill>
                  <a:schemeClr val="bg2">
                    <a:lumMod val="75000"/>
                  </a:schemeClr>
                </a:solidFill>
              </a:rPr>
              <a:t>FastAPI</a:t>
            </a:r>
            <a:r>
              <a:rPr lang="en-US" sz="1700" dirty="0">
                <a:solidFill>
                  <a:schemeClr val="bg2">
                    <a:lumMod val="75000"/>
                  </a:schemeClr>
                </a:solidFill>
              </a:rPr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 err="1">
                <a:solidFill>
                  <a:schemeClr val="bg2">
                    <a:lumMod val="75000"/>
                  </a:schemeClr>
                </a:solidFill>
              </a:rPr>
              <a:t>FastAPI</a:t>
            </a:r>
            <a:r>
              <a:rPr lang="en-US" sz="1700" dirty="0">
                <a:solidFill>
                  <a:schemeClr val="bg2">
                    <a:lumMod val="75000"/>
                  </a:schemeClr>
                </a:solidFill>
              </a:rPr>
              <a:t> validates requests and executes business logic.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 err="1">
                <a:solidFill>
                  <a:schemeClr val="bg2">
                    <a:lumMod val="75000"/>
                  </a:schemeClr>
                </a:solidFill>
              </a:rPr>
              <a:t>SQLAlchemy</a:t>
            </a:r>
            <a:r>
              <a:rPr lang="en-US" sz="1700" dirty="0">
                <a:solidFill>
                  <a:schemeClr val="bg2">
                    <a:lumMod val="75000"/>
                  </a:schemeClr>
                </a:solidFill>
              </a:rPr>
              <a:t> manages database interactions with PostgreSQL.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bg2">
                    <a:lumMod val="75000"/>
                  </a:schemeClr>
                </a:solidFill>
              </a:rPr>
              <a:t>AI prediction service analyzes symptoms.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bg2">
                    <a:lumMod val="75000"/>
                  </a:schemeClr>
                </a:solidFill>
              </a:rPr>
              <a:t>Results are returned to the frontend in real 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E44"/>
                </a:solidFill>
              </a:defRPr>
            </a:pPr>
            <a:r>
              <a:t>Database Design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822960"/>
            <a:ext cx="10972800" cy="530352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14C6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/>
            </a:pPr>
            <a:endParaRPr dirty="0">
              <a:solidFill>
                <a:srgbClr val="FF0000"/>
              </a:solidFill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7C91BB7-F85A-4E7D-B8F6-10FB7BEBB12C}"/>
              </a:ext>
            </a:extLst>
          </p:cNvPr>
          <p:cNvSpPr/>
          <p:nvPr/>
        </p:nvSpPr>
        <p:spPr>
          <a:xfrm>
            <a:off x="6888480" y="2956560"/>
            <a:ext cx="1117600" cy="9448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PostgreSQL</a:t>
            </a:r>
          </a:p>
        </p:txBody>
      </p:sp>
      <p:sp>
        <p:nvSpPr>
          <p:cNvPr id="5" name="Rounded Rectangle 2">
            <a:extLst>
              <a:ext uri="{FF2B5EF4-FFF2-40B4-BE49-F238E27FC236}">
                <a16:creationId xmlns:a16="http://schemas.microsoft.com/office/drawing/2014/main" id="{745E6153-7786-4A2F-85E0-DFA3A9CCCFBE}"/>
              </a:ext>
            </a:extLst>
          </p:cNvPr>
          <p:cNvSpPr/>
          <p:nvPr/>
        </p:nvSpPr>
        <p:spPr>
          <a:xfrm>
            <a:off x="4307840" y="1417320"/>
            <a:ext cx="1645920" cy="772160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rgbClr val="14C6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 sz="2000"/>
            </a:pPr>
            <a:r>
              <a:rPr lang="en-US" sz="1200" b="1" dirty="0">
                <a:solidFill>
                  <a:prstClr val="black"/>
                </a:solidFill>
              </a:rPr>
              <a:t>Users</a:t>
            </a:r>
          </a:p>
          <a:p>
            <a:pPr lvl="0">
              <a:defRPr sz="2000"/>
            </a:pPr>
            <a:r>
              <a:rPr lang="en-US" sz="1000" dirty="0">
                <a:solidFill>
                  <a:prstClr val="black"/>
                </a:solidFill>
              </a:rPr>
              <a:t>Authentication</a:t>
            </a:r>
          </a:p>
          <a:p>
            <a:pPr lvl="0">
              <a:defRPr sz="2000"/>
            </a:pPr>
            <a:r>
              <a:rPr lang="en-US" sz="1000" dirty="0">
                <a:solidFill>
                  <a:prstClr val="black"/>
                </a:solidFill>
              </a:rPr>
              <a:t>Role (Patient/Caretaker)</a:t>
            </a:r>
          </a:p>
        </p:txBody>
      </p:sp>
      <p:sp>
        <p:nvSpPr>
          <p:cNvPr id="6" name="Rounded Rectangle 2">
            <a:extLst>
              <a:ext uri="{FF2B5EF4-FFF2-40B4-BE49-F238E27FC236}">
                <a16:creationId xmlns:a16="http://schemas.microsoft.com/office/drawing/2014/main" id="{67C7AD4B-3BE2-4048-B9CA-E0AC6783844D}"/>
              </a:ext>
            </a:extLst>
          </p:cNvPr>
          <p:cNvSpPr/>
          <p:nvPr/>
        </p:nvSpPr>
        <p:spPr>
          <a:xfrm>
            <a:off x="6624320" y="1447800"/>
            <a:ext cx="1645920" cy="772160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rgbClr val="14C6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 sz="2000"/>
            </a:pPr>
            <a:r>
              <a:rPr lang="en-US" sz="1200" b="1" dirty="0">
                <a:solidFill>
                  <a:prstClr val="black"/>
                </a:solidFill>
              </a:rPr>
              <a:t>Patient Profile</a:t>
            </a:r>
          </a:p>
          <a:p>
            <a:pPr lvl="0">
              <a:defRPr sz="2000"/>
            </a:pPr>
            <a:r>
              <a:rPr lang="en-US" sz="1000" dirty="0">
                <a:solidFill>
                  <a:prstClr val="black"/>
                </a:solidFill>
              </a:rPr>
              <a:t>Patient Information</a:t>
            </a:r>
          </a:p>
        </p:txBody>
      </p:sp>
      <p:sp>
        <p:nvSpPr>
          <p:cNvPr id="7" name="Rounded Rectangle 2">
            <a:extLst>
              <a:ext uri="{FF2B5EF4-FFF2-40B4-BE49-F238E27FC236}">
                <a16:creationId xmlns:a16="http://schemas.microsoft.com/office/drawing/2014/main" id="{83A7E740-9D03-48B3-B337-2AF61C1C3B29}"/>
              </a:ext>
            </a:extLst>
          </p:cNvPr>
          <p:cNvSpPr/>
          <p:nvPr/>
        </p:nvSpPr>
        <p:spPr>
          <a:xfrm>
            <a:off x="8940800" y="1485900"/>
            <a:ext cx="1767840" cy="772160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rgbClr val="14C6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 sz="2000"/>
            </a:pPr>
            <a:r>
              <a:rPr lang="en-US" sz="1200" b="1" dirty="0">
                <a:solidFill>
                  <a:prstClr val="black"/>
                </a:solidFill>
              </a:rPr>
              <a:t>Caretaker Profile</a:t>
            </a:r>
          </a:p>
          <a:p>
            <a:pPr lvl="0">
              <a:defRPr sz="2000"/>
            </a:pPr>
            <a:r>
              <a:rPr lang="en-US" sz="1000" dirty="0">
                <a:solidFill>
                  <a:prstClr val="black"/>
                </a:solidFill>
              </a:rPr>
              <a:t>Professional Information</a:t>
            </a:r>
          </a:p>
        </p:txBody>
      </p:sp>
      <p:sp>
        <p:nvSpPr>
          <p:cNvPr id="8" name="Rounded Rectangle 2">
            <a:extLst>
              <a:ext uri="{FF2B5EF4-FFF2-40B4-BE49-F238E27FC236}">
                <a16:creationId xmlns:a16="http://schemas.microsoft.com/office/drawing/2014/main" id="{698070FA-5825-4F6F-8F48-A1EE2530E247}"/>
              </a:ext>
            </a:extLst>
          </p:cNvPr>
          <p:cNvSpPr/>
          <p:nvPr/>
        </p:nvSpPr>
        <p:spPr>
          <a:xfrm>
            <a:off x="4307840" y="2981960"/>
            <a:ext cx="1645920" cy="772160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rgbClr val="14C6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 sz="2000"/>
            </a:pPr>
            <a:r>
              <a:rPr lang="en-US" sz="1200" b="1" dirty="0">
                <a:solidFill>
                  <a:prstClr val="black"/>
                </a:solidFill>
              </a:rPr>
              <a:t>Symptoms</a:t>
            </a:r>
          </a:p>
          <a:p>
            <a:pPr lvl="0">
              <a:defRPr sz="2000"/>
            </a:pPr>
            <a:r>
              <a:rPr lang="en-US" sz="1000" dirty="0">
                <a:solidFill>
                  <a:prstClr val="black"/>
                </a:solidFill>
              </a:rPr>
              <a:t>Patient Symptoms</a:t>
            </a:r>
          </a:p>
        </p:txBody>
      </p:sp>
      <p:sp>
        <p:nvSpPr>
          <p:cNvPr id="9" name="Rounded Rectangle 2">
            <a:extLst>
              <a:ext uri="{FF2B5EF4-FFF2-40B4-BE49-F238E27FC236}">
                <a16:creationId xmlns:a16="http://schemas.microsoft.com/office/drawing/2014/main" id="{4C643DC8-8FAB-4EFD-8AC5-DDA0C6599C92}"/>
              </a:ext>
            </a:extLst>
          </p:cNvPr>
          <p:cNvSpPr/>
          <p:nvPr/>
        </p:nvSpPr>
        <p:spPr>
          <a:xfrm>
            <a:off x="8940800" y="2981960"/>
            <a:ext cx="1645920" cy="772160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rgbClr val="14C6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 sz="2000"/>
            </a:pPr>
            <a:r>
              <a:rPr lang="en-US" sz="1200" b="1" dirty="0">
                <a:solidFill>
                  <a:prstClr val="black"/>
                </a:solidFill>
              </a:rPr>
              <a:t>Predictions</a:t>
            </a:r>
          </a:p>
          <a:p>
            <a:pPr lvl="0">
              <a:defRPr sz="2000"/>
            </a:pPr>
            <a:r>
              <a:rPr lang="en-US" sz="1000" dirty="0">
                <a:solidFill>
                  <a:prstClr val="black"/>
                </a:solidFill>
              </a:rPr>
              <a:t>AI Disease Predictions</a:t>
            </a:r>
          </a:p>
        </p:txBody>
      </p:sp>
      <p:sp>
        <p:nvSpPr>
          <p:cNvPr id="10" name="Rounded Rectangle 2">
            <a:extLst>
              <a:ext uri="{FF2B5EF4-FFF2-40B4-BE49-F238E27FC236}">
                <a16:creationId xmlns:a16="http://schemas.microsoft.com/office/drawing/2014/main" id="{4EF7BBE4-DE01-42DD-AA51-7616F0D93DA2}"/>
              </a:ext>
            </a:extLst>
          </p:cNvPr>
          <p:cNvSpPr/>
          <p:nvPr/>
        </p:nvSpPr>
        <p:spPr>
          <a:xfrm>
            <a:off x="4307840" y="4561840"/>
            <a:ext cx="1645920" cy="772160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rgbClr val="14C6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 sz="2000"/>
            </a:pPr>
            <a:r>
              <a:rPr lang="en-US" sz="1200" b="1" dirty="0">
                <a:solidFill>
                  <a:prstClr val="black"/>
                </a:solidFill>
              </a:rPr>
              <a:t>Medical Reports</a:t>
            </a:r>
          </a:p>
          <a:p>
            <a:pPr lvl="0">
              <a:defRPr sz="2000"/>
            </a:pPr>
            <a:r>
              <a:rPr lang="en-US" sz="1000" dirty="0">
                <a:solidFill>
                  <a:prstClr val="black"/>
                </a:solidFill>
              </a:rPr>
              <a:t>Uploaded Files</a:t>
            </a:r>
          </a:p>
        </p:txBody>
      </p:sp>
      <p:sp>
        <p:nvSpPr>
          <p:cNvPr id="11" name="Rounded Rectangle 2">
            <a:extLst>
              <a:ext uri="{FF2B5EF4-FFF2-40B4-BE49-F238E27FC236}">
                <a16:creationId xmlns:a16="http://schemas.microsoft.com/office/drawing/2014/main" id="{B8F69555-D04E-438F-BFDE-F61F11399DA4}"/>
              </a:ext>
            </a:extLst>
          </p:cNvPr>
          <p:cNvSpPr/>
          <p:nvPr/>
        </p:nvSpPr>
        <p:spPr>
          <a:xfrm>
            <a:off x="6502400" y="4561840"/>
            <a:ext cx="2011680" cy="772160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rgbClr val="14C6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 sz="2000"/>
            </a:pPr>
            <a:r>
              <a:rPr lang="en-US" sz="1200" b="1" dirty="0">
                <a:solidFill>
                  <a:prstClr val="black"/>
                </a:solidFill>
              </a:rPr>
              <a:t>Caretaker Assignments</a:t>
            </a:r>
          </a:p>
          <a:p>
            <a:pPr lvl="0">
              <a:defRPr sz="2000"/>
            </a:pPr>
            <a:r>
              <a:rPr lang="en-US" sz="1000" dirty="0">
                <a:solidFill>
                  <a:prstClr val="black"/>
                </a:solidFill>
              </a:rPr>
              <a:t>Patient-Caretaker Mapping</a:t>
            </a:r>
          </a:p>
        </p:txBody>
      </p:sp>
      <p:sp>
        <p:nvSpPr>
          <p:cNvPr id="12" name="Rounded Rectangle 2">
            <a:extLst>
              <a:ext uri="{FF2B5EF4-FFF2-40B4-BE49-F238E27FC236}">
                <a16:creationId xmlns:a16="http://schemas.microsoft.com/office/drawing/2014/main" id="{7ADA7931-BE73-4BF6-B9F1-C8930966B1A2}"/>
              </a:ext>
            </a:extLst>
          </p:cNvPr>
          <p:cNvSpPr/>
          <p:nvPr/>
        </p:nvSpPr>
        <p:spPr>
          <a:xfrm>
            <a:off x="9144000" y="4500880"/>
            <a:ext cx="1767840" cy="772160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rgbClr val="14C6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 sz="2000"/>
            </a:pPr>
            <a:r>
              <a:rPr lang="en-US" sz="1200" b="1" dirty="0">
                <a:solidFill>
                  <a:prstClr val="black"/>
                </a:solidFill>
              </a:rPr>
              <a:t>Recommendations</a:t>
            </a:r>
          </a:p>
          <a:p>
            <a:pPr lvl="0">
              <a:defRPr sz="2000"/>
            </a:pPr>
            <a:r>
              <a:rPr lang="en-US" sz="1000" dirty="0">
                <a:solidFill>
                  <a:prstClr val="black"/>
                </a:solidFill>
              </a:rPr>
              <a:t>Healthcare Advice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8A823C9-5B06-4CD7-BBBD-BBB0351CD0F6}"/>
              </a:ext>
            </a:extLst>
          </p:cNvPr>
          <p:cNvCxnSpPr>
            <a:stCxn id="5" idx="2"/>
            <a:endCxn id="4" idx="1"/>
          </p:cNvCxnSpPr>
          <p:nvPr/>
        </p:nvCxnSpPr>
        <p:spPr>
          <a:xfrm>
            <a:off x="5130800" y="2189480"/>
            <a:ext cx="1921349" cy="9054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CBE52C2-BE85-49CE-9E53-ED4ADBCB9A44}"/>
              </a:ext>
            </a:extLst>
          </p:cNvPr>
          <p:cNvCxnSpPr>
            <a:cxnSpLocks/>
            <a:endCxn id="4" idx="0"/>
          </p:cNvCxnSpPr>
          <p:nvPr/>
        </p:nvCxnSpPr>
        <p:spPr>
          <a:xfrm>
            <a:off x="7426960" y="2232053"/>
            <a:ext cx="20320" cy="7245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95CA6E5-6BDD-4A40-9B68-1D00C48F4C4C}"/>
              </a:ext>
            </a:extLst>
          </p:cNvPr>
          <p:cNvCxnSpPr>
            <a:cxnSpLocks/>
            <a:endCxn id="4" idx="7"/>
          </p:cNvCxnSpPr>
          <p:nvPr/>
        </p:nvCxnSpPr>
        <p:spPr>
          <a:xfrm flipH="1">
            <a:off x="7842411" y="2264107"/>
            <a:ext cx="1982310" cy="8308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0235AE3-ED5F-4CB3-9EFD-544C48D2807B}"/>
              </a:ext>
            </a:extLst>
          </p:cNvPr>
          <p:cNvCxnSpPr>
            <a:cxnSpLocks/>
          </p:cNvCxnSpPr>
          <p:nvPr/>
        </p:nvCxnSpPr>
        <p:spPr>
          <a:xfrm flipH="1">
            <a:off x="8006080" y="3368040"/>
            <a:ext cx="9347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8263A97-0159-4AF7-96DD-3CF97F0CE08F}"/>
              </a:ext>
            </a:extLst>
          </p:cNvPr>
          <p:cNvCxnSpPr>
            <a:cxnSpLocks/>
            <a:stCxn id="12" idx="0"/>
            <a:endCxn id="4" idx="5"/>
          </p:cNvCxnSpPr>
          <p:nvPr/>
        </p:nvCxnSpPr>
        <p:spPr>
          <a:xfrm flipH="1" flipV="1">
            <a:off x="7842411" y="3763066"/>
            <a:ext cx="2185509" cy="7378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7129A37-CE8D-43DF-9C2A-7B147273CE9A}"/>
              </a:ext>
            </a:extLst>
          </p:cNvPr>
          <p:cNvCxnSpPr>
            <a:cxnSpLocks/>
            <a:stCxn id="11" idx="0"/>
          </p:cNvCxnSpPr>
          <p:nvPr/>
        </p:nvCxnSpPr>
        <p:spPr>
          <a:xfrm flipH="1" flipV="1">
            <a:off x="7482840" y="3901440"/>
            <a:ext cx="25400" cy="660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097A08A-95FB-4888-9562-752D4F91F50C}"/>
              </a:ext>
            </a:extLst>
          </p:cNvPr>
          <p:cNvCxnSpPr>
            <a:cxnSpLocks/>
            <a:stCxn id="10" idx="0"/>
            <a:endCxn id="4" idx="3"/>
          </p:cNvCxnSpPr>
          <p:nvPr/>
        </p:nvCxnSpPr>
        <p:spPr>
          <a:xfrm flipV="1">
            <a:off x="5130800" y="3763066"/>
            <a:ext cx="1921349" cy="7987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BC084AD6-96FD-4B0E-A58A-91572C4F7FF1}"/>
              </a:ext>
            </a:extLst>
          </p:cNvPr>
          <p:cNvCxnSpPr>
            <a:cxnSpLocks/>
            <a:stCxn id="8" idx="3"/>
            <a:endCxn id="4" idx="2"/>
          </p:cNvCxnSpPr>
          <p:nvPr/>
        </p:nvCxnSpPr>
        <p:spPr>
          <a:xfrm>
            <a:off x="5953760" y="3368040"/>
            <a:ext cx="934720" cy="609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072CC5F8-84AD-41D4-8CBA-95257CC77988}"/>
              </a:ext>
            </a:extLst>
          </p:cNvPr>
          <p:cNvSpPr/>
          <p:nvPr/>
        </p:nvSpPr>
        <p:spPr>
          <a:xfrm>
            <a:off x="1056639" y="1583574"/>
            <a:ext cx="2856069" cy="3782291"/>
          </a:xfrm>
          <a:prstGeom prst="roundRect">
            <a:avLst/>
          </a:prstGeom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300" b="1" dirty="0"/>
              <a:t>The PostgreSQL database is designed to securely manage authentication, patient information, AI prediction records, medical reports, and caretaker assignments while maintaining data integrity through relational table design.</a:t>
            </a:r>
            <a:endParaRPr lang="en-IN" sz="1300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369684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E44"/>
                </a:solidFill>
              </a:defRPr>
            </a:pPr>
            <a:r>
              <a:rPr lang="en-IN" dirty="0"/>
              <a:t>Milestone 1 Progress</a:t>
            </a:r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548640" y="814029"/>
            <a:ext cx="10972800" cy="580644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14C6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/>
            </a:pPr>
            <a:endParaRPr dirty="0">
              <a:solidFill>
                <a:srgbClr val="FF0000"/>
              </a:solidFill>
            </a:endParaRPr>
          </a:p>
        </p:txBody>
      </p:sp>
      <p:sp>
        <p:nvSpPr>
          <p:cNvPr id="4" name="Rounded Rectangle 2">
            <a:extLst>
              <a:ext uri="{FF2B5EF4-FFF2-40B4-BE49-F238E27FC236}">
                <a16:creationId xmlns:a16="http://schemas.microsoft.com/office/drawing/2014/main" id="{32564624-83F6-48EF-BFDE-7A7886058817}"/>
              </a:ext>
            </a:extLst>
          </p:cNvPr>
          <p:cNvSpPr/>
          <p:nvPr/>
        </p:nvSpPr>
        <p:spPr>
          <a:xfrm>
            <a:off x="1391223" y="1987855"/>
            <a:ext cx="1828800" cy="1203960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rgbClr val="14C6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 sz="2000"/>
            </a:pPr>
            <a:r>
              <a:rPr lang="en-US" sz="1200" b="1" dirty="0">
                <a:solidFill>
                  <a:prstClr val="black"/>
                </a:solidFill>
              </a:rPr>
              <a:t>Authentication</a:t>
            </a:r>
          </a:p>
          <a:p>
            <a:pPr lvl="0">
              <a:defRPr sz="2000"/>
            </a:pPr>
            <a:r>
              <a:rPr lang="en-US" sz="1000" dirty="0">
                <a:solidFill>
                  <a:prstClr val="black"/>
                </a:solidFill>
              </a:rPr>
              <a:t>Login</a:t>
            </a:r>
          </a:p>
          <a:p>
            <a:pPr lvl="0">
              <a:defRPr sz="2000"/>
            </a:pPr>
            <a:r>
              <a:rPr lang="en-US" sz="1000" dirty="0">
                <a:solidFill>
                  <a:prstClr val="black"/>
                </a:solidFill>
              </a:rPr>
              <a:t>Registration</a:t>
            </a:r>
          </a:p>
          <a:p>
            <a:pPr lvl="0">
              <a:defRPr sz="2000"/>
            </a:pPr>
            <a:r>
              <a:rPr lang="en-US" sz="1000" dirty="0">
                <a:solidFill>
                  <a:prstClr val="black"/>
                </a:solidFill>
              </a:rPr>
              <a:t>JWT Authentication</a:t>
            </a:r>
          </a:p>
        </p:txBody>
      </p:sp>
      <p:sp>
        <p:nvSpPr>
          <p:cNvPr id="5" name="Rounded Rectangle 2">
            <a:extLst>
              <a:ext uri="{FF2B5EF4-FFF2-40B4-BE49-F238E27FC236}">
                <a16:creationId xmlns:a16="http://schemas.microsoft.com/office/drawing/2014/main" id="{2FBEE8C5-B055-400F-A2B9-27D5DE316D5C}"/>
              </a:ext>
            </a:extLst>
          </p:cNvPr>
          <p:cNvSpPr/>
          <p:nvPr/>
        </p:nvSpPr>
        <p:spPr>
          <a:xfrm>
            <a:off x="1391223" y="3429000"/>
            <a:ext cx="1828800" cy="1582421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rgbClr val="14C6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 sz="2000"/>
            </a:pPr>
            <a:r>
              <a:rPr lang="en-US" sz="1200" b="1" dirty="0">
                <a:solidFill>
                  <a:prstClr val="black"/>
                </a:solidFill>
              </a:rPr>
              <a:t>Patient Module</a:t>
            </a:r>
          </a:p>
          <a:p>
            <a:pPr lvl="0">
              <a:defRPr sz="2000"/>
            </a:pPr>
            <a:r>
              <a:rPr lang="en-US" sz="1000" dirty="0">
                <a:solidFill>
                  <a:prstClr val="black"/>
                </a:solidFill>
              </a:rPr>
              <a:t>Dashboard</a:t>
            </a:r>
          </a:p>
          <a:p>
            <a:pPr lvl="0">
              <a:defRPr sz="2000"/>
            </a:pPr>
            <a:r>
              <a:rPr lang="en-US" sz="1000" dirty="0">
                <a:solidFill>
                  <a:prstClr val="black"/>
                </a:solidFill>
              </a:rPr>
              <a:t>Profile</a:t>
            </a:r>
          </a:p>
          <a:p>
            <a:pPr lvl="0">
              <a:defRPr sz="2000"/>
            </a:pPr>
            <a:r>
              <a:rPr lang="en-US" sz="1000" dirty="0">
                <a:solidFill>
                  <a:prstClr val="black"/>
                </a:solidFill>
              </a:rPr>
              <a:t>Symptoms</a:t>
            </a:r>
          </a:p>
          <a:p>
            <a:pPr lvl="0">
              <a:defRPr sz="2000"/>
            </a:pPr>
            <a:r>
              <a:rPr lang="en-US" sz="1000" dirty="0">
                <a:solidFill>
                  <a:prstClr val="black"/>
                </a:solidFill>
              </a:rPr>
              <a:t>Disease Prediction</a:t>
            </a:r>
          </a:p>
          <a:p>
            <a:pPr lvl="0">
              <a:defRPr sz="2000"/>
            </a:pPr>
            <a:r>
              <a:rPr lang="en-US" sz="1000" dirty="0">
                <a:solidFill>
                  <a:prstClr val="black"/>
                </a:solidFill>
              </a:rPr>
              <a:t>Recommendations</a:t>
            </a:r>
          </a:p>
          <a:p>
            <a:pPr lvl="0">
              <a:defRPr sz="2000"/>
            </a:pPr>
            <a:r>
              <a:rPr lang="en-US" sz="1000" dirty="0">
                <a:solidFill>
                  <a:prstClr val="black"/>
                </a:solidFill>
              </a:rPr>
              <a:t>Health Reports</a:t>
            </a:r>
          </a:p>
          <a:p>
            <a:pPr lvl="0">
              <a:defRPr sz="2000"/>
            </a:pPr>
            <a:r>
              <a:rPr lang="en-US" sz="1000" dirty="0">
                <a:solidFill>
                  <a:prstClr val="black"/>
                </a:solidFill>
              </a:rPr>
              <a:t>Caretaker Selection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66D9CB-6451-44AA-AE1A-EA63F3CA6A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8502" y="3572509"/>
            <a:ext cx="5862320" cy="271811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44F520C-301C-45BA-8CC8-210330B7DA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4260" y="1309982"/>
            <a:ext cx="4390804" cy="197550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E44"/>
                </a:solidFill>
              </a:defRPr>
            </a:pPr>
            <a:r>
              <a:t>Milestone 1 Progress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822960"/>
            <a:ext cx="10972800" cy="5552902"/>
          </a:xfrm>
          <a:prstGeom prst="roundRect">
            <a:avLst/>
          </a:prstGeom>
          <a:solidFill>
            <a:srgbClr val="FFFFFF"/>
          </a:solidFill>
          <a:ln>
            <a:solidFill>
              <a:srgbClr val="14C6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/>
            </a:pPr>
            <a:endParaRPr dirty="0">
              <a:solidFill>
                <a:srgbClr val="FF0000"/>
              </a:solidFill>
            </a:endParaRPr>
          </a:p>
        </p:txBody>
      </p:sp>
      <p:sp>
        <p:nvSpPr>
          <p:cNvPr id="6" name="Rounded Rectangle 2">
            <a:extLst>
              <a:ext uri="{FF2B5EF4-FFF2-40B4-BE49-F238E27FC236}">
                <a16:creationId xmlns:a16="http://schemas.microsoft.com/office/drawing/2014/main" id="{D80BF94A-87AE-409C-9DFD-B5AC9A697A83}"/>
              </a:ext>
            </a:extLst>
          </p:cNvPr>
          <p:cNvSpPr/>
          <p:nvPr/>
        </p:nvSpPr>
        <p:spPr>
          <a:xfrm>
            <a:off x="1161837" y="2742391"/>
            <a:ext cx="2104043" cy="1373217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rgbClr val="14C6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 sz="2000"/>
            </a:pPr>
            <a:r>
              <a:rPr lang="en-US" sz="1200" b="1" dirty="0">
                <a:solidFill>
                  <a:prstClr val="black"/>
                </a:solidFill>
              </a:rPr>
              <a:t>Caretaker Module</a:t>
            </a:r>
          </a:p>
          <a:p>
            <a:pPr lvl="0">
              <a:defRPr sz="2000"/>
            </a:pPr>
            <a:r>
              <a:rPr lang="en-US" sz="1000" dirty="0">
                <a:solidFill>
                  <a:prstClr val="black"/>
                </a:solidFill>
              </a:rPr>
              <a:t>Dashboard</a:t>
            </a:r>
          </a:p>
          <a:p>
            <a:pPr lvl="0">
              <a:defRPr sz="2000"/>
            </a:pPr>
            <a:r>
              <a:rPr lang="en-US" sz="1000" dirty="0">
                <a:solidFill>
                  <a:prstClr val="black"/>
                </a:solidFill>
              </a:rPr>
              <a:t>Profile</a:t>
            </a:r>
          </a:p>
          <a:p>
            <a:pPr lvl="0">
              <a:defRPr sz="2000"/>
            </a:pPr>
            <a:r>
              <a:rPr lang="en-US" sz="1000" dirty="0">
                <a:solidFill>
                  <a:prstClr val="black"/>
                </a:solidFill>
              </a:rPr>
              <a:t>Assigned Patients</a:t>
            </a:r>
          </a:p>
          <a:p>
            <a:pPr lvl="0">
              <a:defRPr sz="2000"/>
            </a:pPr>
            <a:r>
              <a:rPr lang="en-US" sz="1000" dirty="0">
                <a:solidFill>
                  <a:prstClr val="black"/>
                </a:solidFill>
              </a:rPr>
              <a:t>Patient Details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0571C80-535F-4A67-931D-2DF781CAA9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134672"/>
            <a:ext cx="5403268" cy="229790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CE85700-3A97-487F-8B62-563766B7E5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0524" y="3755267"/>
            <a:ext cx="4776853" cy="229790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479169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E44"/>
                </a:solidFill>
              </a:defRPr>
            </a:pPr>
            <a:r>
              <a:rPr dirty="0"/>
              <a:t>Future Scope</a:t>
            </a:r>
            <a:r>
              <a:rPr lang="en-US" dirty="0"/>
              <a:t> (Milestone 2)</a:t>
            </a:r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457200" y="1112289"/>
            <a:ext cx="10972800" cy="4696691"/>
          </a:xfrm>
          <a:prstGeom prst="roundRect">
            <a:avLst/>
          </a:prstGeom>
          <a:solidFill>
            <a:srgbClr val="FFFFFF"/>
          </a:solidFill>
          <a:ln>
            <a:solidFill>
              <a:srgbClr val="14C6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>
                <a:solidFill>
                  <a:schemeClr val="bg2">
                    <a:lumMod val="75000"/>
                  </a:schemeClr>
                </a:solidFill>
              </a:rPr>
              <a:t>🔹 AI Enhancement</a:t>
            </a:r>
          </a:p>
          <a:p>
            <a:r>
              <a:rPr lang="en-IN" sz="1500" dirty="0">
                <a:solidFill>
                  <a:schemeClr val="bg2">
                    <a:lumMod val="75000"/>
                  </a:schemeClr>
                </a:solidFill>
              </a:rPr>
              <a:t>Improve disease prediction accuracy </a:t>
            </a:r>
          </a:p>
          <a:p>
            <a:r>
              <a:rPr lang="en-IN" sz="1500" dirty="0">
                <a:solidFill>
                  <a:schemeClr val="bg2">
                    <a:lumMod val="75000"/>
                  </a:schemeClr>
                </a:solidFill>
              </a:rPr>
              <a:t>Expand the medical dataset </a:t>
            </a:r>
          </a:p>
          <a:p>
            <a:endParaRPr lang="en-IN" sz="1500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IN" b="1" dirty="0">
                <a:solidFill>
                  <a:schemeClr val="bg2">
                    <a:lumMod val="75000"/>
                  </a:schemeClr>
                </a:solidFill>
              </a:rPr>
              <a:t>🔹 Feature Development</a:t>
            </a:r>
          </a:p>
          <a:p>
            <a:r>
              <a:rPr lang="en-IN" sz="1500" dirty="0">
                <a:solidFill>
                  <a:schemeClr val="bg2">
                    <a:lumMod val="75000"/>
                  </a:schemeClr>
                </a:solidFill>
              </a:rPr>
              <a:t>Doctor Portal </a:t>
            </a:r>
          </a:p>
          <a:p>
            <a:r>
              <a:rPr lang="en-IN" sz="1500" dirty="0">
                <a:solidFill>
                  <a:schemeClr val="bg2">
                    <a:lumMod val="75000"/>
                  </a:schemeClr>
                </a:solidFill>
              </a:rPr>
              <a:t>Appointment Scheduling </a:t>
            </a:r>
          </a:p>
          <a:p>
            <a:r>
              <a:rPr lang="en-IN" sz="1500" dirty="0">
                <a:solidFill>
                  <a:schemeClr val="bg2">
                    <a:lumMod val="75000"/>
                  </a:schemeClr>
                </a:solidFill>
              </a:rPr>
              <a:t>Real-time Notifications</a:t>
            </a:r>
          </a:p>
          <a:p>
            <a:endParaRPr lang="en-IN" sz="1500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IN" b="1" dirty="0">
                <a:solidFill>
                  <a:schemeClr val="bg2">
                    <a:lumMod val="75000"/>
                  </a:schemeClr>
                </a:solidFill>
              </a:rPr>
              <a:t>🔹 System Improvements</a:t>
            </a:r>
          </a:p>
          <a:p>
            <a:r>
              <a:rPr lang="en-IN" sz="1500" dirty="0">
                <a:solidFill>
                  <a:schemeClr val="bg2">
                    <a:lumMod val="75000"/>
                  </a:schemeClr>
                </a:solidFill>
              </a:rPr>
              <a:t>Responsive UI &amp; UX </a:t>
            </a:r>
          </a:p>
          <a:p>
            <a:r>
              <a:rPr lang="en-IN" sz="1500" dirty="0">
                <a:solidFill>
                  <a:schemeClr val="bg2">
                    <a:lumMod val="75000"/>
                  </a:schemeClr>
                </a:solidFill>
              </a:rPr>
              <a:t>Enhanced Security </a:t>
            </a:r>
          </a:p>
          <a:p>
            <a:r>
              <a:rPr lang="en-IN" sz="1500" dirty="0">
                <a:solidFill>
                  <a:schemeClr val="bg2">
                    <a:lumMod val="75000"/>
                  </a:schemeClr>
                </a:solidFill>
              </a:rPr>
              <a:t>Cloud Deployment</a:t>
            </a:r>
          </a:p>
        </p:txBody>
      </p:sp>
      <p:sp>
        <p:nvSpPr>
          <p:cNvPr id="4" name="Rounded Rectangle 2">
            <a:extLst>
              <a:ext uri="{FF2B5EF4-FFF2-40B4-BE49-F238E27FC236}">
                <a16:creationId xmlns:a16="http://schemas.microsoft.com/office/drawing/2014/main" id="{4C3322B0-4B67-4AE4-8973-776059CB9C4D}"/>
              </a:ext>
            </a:extLst>
          </p:cNvPr>
          <p:cNvSpPr/>
          <p:nvPr/>
        </p:nvSpPr>
        <p:spPr>
          <a:xfrm>
            <a:off x="1761836" y="5607531"/>
            <a:ext cx="8363527" cy="537306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rgbClr val="14C6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 sz="2000"/>
            </a:pPr>
            <a:r>
              <a:rPr lang="en-US" sz="1500" b="1" dirty="0">
                <a:solidFill>
                  <a:schemeClr val="bg2">
                    <a:lumMod val="75000"/>
                  </a:schemeClr>
                </a:solidFill>
              </a:rPr>
              <a:t>Goal: </a:t>
            </a:r>
            <a:r>
              <a:rPr lang="en-US" sz="1200" b="1" dirty="0">
                <a:solidFill>
                  <a:schemeClr val="bg2">
                    <a:lumMod val="75000"/>
                  </a:schemeClr>
                </a:solidFill>
              </a:rPr>
              <a:t>Transform </a:t>
            </a:r>
            <a:r>
              <a:rPr lang="en-US" sz="1200" b="1" dirty="0" err="1">
                <a:solidFill>
                  <a:schemeClr val="bg2">
                    <a:lumMod val="75000"/>
                  </a:schemeClr>
                </a:solidFill>
              </a:rPr>
              <a:t>MedAssist</a:t>
            </a:r>
            <a:r>
              <a:rPr lang="en-US" sz="1200" b="1" dirty="0">
                <a:solidFill>
                  <a:schemeClr val="bg2">
                    <a:lumMod val="75000"/>
                  </a:schemeClr>
                </a:solidFill>
              </a:rPr>
              <a:t> AI into a secure, scalable, and production-ready healthcare platform.</a:t>
            </a:r>
            <a:endParaRPr lang="en-US" sz="1000" b="1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6" name="Rounded Rectangle 2">
            <a:extLst>
              <a:ext uri="{FF2B5EF4-FFF2-40B4-BE49-F238E27FC236}">
                <a16:creationId xmlns:a16="http://schemas.microsoft.com/office/drawing/2014/main" id="{FD0C6A86-1776-4C86-ADCD-B80C42BA5FCB}"/>
              </a:ext>
            </a:extLst>
          </p:cNvPr>
          <p:cNvSpPr/>
          <p:nvPr/>
        </p:nvSpPr>
        <p:spPr>
          <a:xfrm>
            <a:off x="6474690" y="1696767"/>
            <a:ext cx="3176386" cy="3440498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rgbClr val="14C6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 sz="2000"/>
            </a:pPr>
            <a:r>
              <a:rPr lang="en-US" sz="1500" b="1" dirty="0">
                <a:solidFill>
                  <a:prstClr val="black"/>
                </a:solidFill>
              </a:rPr>
              <a:t>Milestone 1</a:t>
            </a:r>
          </a:p>
          <a:p>
            <a:pPr lvl="0" algn="ctr">
              <a:defRPr sz="2000"/>
            </a:pPr>
            <a:r>
              <a:rPr lang="en-US" sz="1500" b="1" dirty="0">
                <a:solidFill>
                  <a:prstClr val="black"/>
                </a:solidFill>
              </a:rPr>
              <a:t>     │</a:t>
            </a:r>
          </a:p>
          <a:p>
            <a:pPr lvl="0" algn="ctr">
              <a:defRPr sz="2000"/>
            </a:pPr>
            <a:r>
              <a:rPr lang="en-US" sz="1500" b="1" dirty="0">
                <a:solidFill>
                  <a:prstClr val="black"/>
                </a:solidFill>
              </a:rPr>
              <a:t>     ▼</a:t>
            </a:r>
          </a:p>
          <a:p>
            <a:pPr lvl="0" algn="ctr">
              <a:defRPr sz="2000"/>
            </a:pPr>
            <a:r>
              <a:rPr lang="en-US" sz="1500" b="1" dirty="0">
                <a:solidFill>
                  <a:prstClr val="black"/>
                </a:solidFill>
              </a:rPr>
              <a:t>AI Enhancement</a:t>
            </a:r>
          </a:p>
          <a:p>
            <a:pPr lvl="0" algn="ctr">
              <a:defRPr sz="2000"/>
            </a:pPr>
            <a:r>
              <a:rPr lang="en-US" sz="1500" b="1" dirty="0">
                <a:solidFill>
                  <a:prstClr val="black"/>
                </a:solidFill>
              </a:rPr>
              <a:t>     │</a:t>
            </a:r>
          </a:p>
          <a:p>
            <a:pPr lvl="0" algn="ctr">
              <a:defRPr sz="2000"/>
            </a:pPr>
            <a:r>
              <a:rPr lang="en-US" sz="1500" b="1" dirty="0">
                <a:solidFill>
                  <a:prstClr val="black"/>
                </a:solidFill>
              </a:rPr>
              <a:t>     ▼</a:t>
            </a:r>
          </a:p>
          <a:p>
            <a:pPr lvl="0" algn="ctr">
              <a:defRPr sz="2000"/>
            </a:pPr>
            <a:r>
              <a:rPr lang="en-US" sz="1500" b="1" dirty="0">
                <a:solidFill>
                  <a:prstClr val="black"/>
                </a:solidFill>
              </a:rPr>
              <a:t>Feature Development</a:t>
            </a:r>
          </a:p>
          <a:p>
            <a:pPr lvl="0" algn="ctr">
              <a:defRPr sz="2000"/>
            </a:pPr>
            <a:r>
              <a:rPr lang="en-US" sz="1500" b="1" dirty="0">
                <a:solidFill>
                  <a:prstClr val="black"/>
                </a:solidFill>
              </a:rPr>
              <a:t>     │</a:t>
            </a:r>
          </a:p>
          <a:p>
            <a:pPr lvl="0" algn="ctr">
              <a:defRPr sz="2000"/>
            </a:pPr>
            <a:r>
              <a:rPr lang="en-US" sz="1500" b="1" dirty="0">
                <a:solidFill>
                  <a:prstClr val="black"/>
                </a:solidFill>
              </a:rPr>
              <a:t>     ▼</a:t>
            </a:r>
          </a:p>
          <a:p>
            <a:pPr lvl="0" algn="ctr">
              <a:defRPr sz="2000"/>
            </a:pPr>
            <a:r>
              <a:rPr lang="en-US" sz="1500" b="1" dirty="0">
                <a:solidFill>
                  <a:prstClr val="black"/>
                </a:solidFill>
              </a:rPr>
              <a:t>System Improvements</a:t>
            </a:r>
          </a:p>
          <a:p>
            <a:pPr lvl="0" algn="ctr">
              <a:defRPr sz="2000"/>
            </a:pPr>
            <a:r>
              <a:rPr lang="en-US" sz="1500" b="1" dirty="0">
                <a:solidFill>
                  <a:prstClr val="black"/>
                </a:solidFill>
              </a:rPr>
              <a:t>     │</a:t>
            </a:r>
          </a:p>
          <a:p>
            <a:pPr lvl="0" algn="ctr">
              <a:defRPr sz="2000"/>
            </a:pPr>
            <a:r>
              <a:rPr lang="en-US" sz="1500" b="1" dirty="0">
                <a:solidFill>
                  <a:prstClr val="black"/>
                </a:solidFill>
              </a:rPr>
              <a:t>     ▼</a:t>
            </a:r>
          </a:p>
          <a:p>
            <a:pPr lvl="0" algn="ctr">
              <a:defRPr sz="2000"/>
            </a:pPr>
            <a:r>
              <a:rPr lang="en-US" sz="1500" b="1" dirty="0">
                <a:solidFill>
                  <a:prstClr val="black"/>
                </a:solidFill>
              </a:rPr>
              <a:t>Deployment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106</TotalTime>
  <Words>332</Words>
  <Application>Microsoft Office PowerPoint</Application>
  <PresentationFormat>Widescreen</PresentationFormat>
  <Paragraphs>110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Century Gothic</vt:lpstr>
      <vt:lpstr>Wingdings</vt:lpstr>
      <vt:lpstr>Wingdings 3</vt:lpstr>
      <vt:lpstr>Slice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20A91A0524</cp:lastModifiedBy>
  <cp:revision>5</cp:revision>
  <dcterms:created xsi:type="dcterms:W3CDTF">2013-01-27T09:14:16Z</dcterms:created>
  <dcterms:modified xsi:type="dcterms:W3CDTF">2026-07-31T13:15:53Z</dcterms:modified>
  <cp:category/>
</cp:coreProperties>
</file>