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4" userDrawn="1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0A91A0524" initials="2" lastIdx="1" clrIdx="0">
    <p:extLst>
      <p:ext uri="{19B8F6BF-5375-455C-9EA6-DF929625EA0E}">
        <p15:presenceInfo xmlns:p15="http://schemas.microsoft.com/office/powerpoint/2012/main" userId="20A91A052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457" autoAdjust="0"/>
    <p:restoredTop sz="94660"/>
  </p:normalViewPr>
  <p:slideViewPr>
    <p:cSldViewPr>
      <p:cViewPr varScale="1">
        <p:scale>
          <a:sx n="62" d="100"/>
          <a:sy n="62" d="100"/>
        </p:scale>
        <p:origin x="878" y="58"/>
      </p:cViewPr>
      <p:guideLst>
        <p:guide orient="horz" pos="2904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8059" y="3222999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226364" y="0"/>
                </a:moveTo>
                <a:lnTo>
                  <a:pt x="182146" y="4361"/>
                </a:lnTo>
                <a:lnTo>
                  <a:pt x="139604" y="17260"/>
                </a:lnTo>
                <a:lnTo>
                  <a:pt x="100402" y="38214"/>
                </a:lnTo>
                <a:lnTo>
                  <a:pt x="66230" y="66230"/>
                </a:lnTo>
                <a:lnTo>
                  <a:pt x="38214" y="100402"/>
                </a:lnTo>
                <a:lnTo>
                  <a:pt x="17260" y="139604"/>
                </a:lnTo>
                <a:lnTo>
                  <a:pt x="4361" y="182146"/>
                </a:lnTo>
                <a:lnTo>
                  <a:pt x="0" y="226364"/>
                </a:lnTo>
                <a:lnTo>
                  <a:pt x="486" y="241201"/>
                </a:lnTo>
                <a:lnTo>
                  <a:pt x="7734" y="285051"/>
                </a:lnTo>
                <a:lnTo>
                  <a:pt x="23380" y="326635"/>
                </a:lnTo>
                <a:lnTo>
                  <a:pt x="46855" y="364383"/>
                </a:lnTo>
                <a:lnTo>
                  <a:pt x="383438" y="703707"/>
                </a:lnTo>
                <a:lnTo>
                  <a:pt x="703707" y="383438"/>
                </a:lnTo>
                <a:lnTo>
                  <a:pt x="386689" y="66408"/>
                </a:lnTo>
                <a:lnTo>
                  <a:pt x="352329" y="38217"/>
                </a:lnTo>
                <a:lnTo>
                  <a:pt x="313131" y="17260"/>
                </a:lnTo>
                <a:lnTo>
                  <a:pt x="270593" y="4361"/>
                </a:lnTo>
                <a:lnTo>
                  <a:pt x="226364" y="0"/>
                </a:lnTo>
                <a:close/>
              </a:path>
            </a:pathLst>
          </a:custGeom>
          <a:solidFill>
            <a:srgbClr val="F262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31486" y="3223002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477342" y="0"/>
                </a:moveTo>
                <a:lnTo>
                  <a:pt x="433113" y="4361"/>
                </a:lnTo>
                <a:lnTo>
                  <a:pt x="390575" y="17260"/>
                </a:lnTo>
                <a:lnTo>
                  <a:pt x="351377" y="38217"/>
                </a:lnTo>
                <a:lnTo>
                  <a:pt x="317017" y="66408"/>
                </a:lnTo>
                <a:lnTo>
                  <a:pt x="0" y="383438"/>
                </a:lnTo>
                <a:lnTo>
                  <a:pt x="320268" y="703707"/>
                </a:lnTo>
                <a:lnTo>
                  <a:pt x="637298" y="386689"/>
                </a:lnTo>
                <a:lnTo>
                  <a:pt x="665489" y="352329"/>
                </a:lnTo>
                <a:lnTo>
                  <a:pt x="686446" y="313131"/>
                </a:lnTo>
                <a:lnTo>
                  <a:pt x="699345" y="270593"/>
                </a:lnTo>
                <a:lnTo>
                  <a:pt x="703707" y="226364"/>
                </a:lnTo>
                <a:lnTo>
                  <a:pt x="703220" y="211530"/>
                </a:lnTo>
                <a:lnTo>
                  <a:pt x="695972" y="167690"/>
                </a:lnTo>
                <a:lnTo>
                  <a:pt x="680326" y="126096"/>
                </a:lnTo>
                <a:lnTo>
                  <a:pt x="656874" y="88369"/>
                </a:lnTo>
                <a:lnTo>
                  <a:pt x="626746" y="56186"/>
                </a:lnTo>
                <a:lnTo>
                  <a:pt x="590702" y="30378"/>
                </a:lnTo>
                <a:lnTo>
                  <a:pt x="550222" y="12038"/>
                </a:lnTo>
                <a:lnTo>
                  <a:pt x="506931" y="1943"/>
                </a:lnTo>
                <a:lnTo>
                  <a:pt x="477342" y="0"/>
                </a:lnTo>
                <a:close/>
              </a:path>
            </a:pathLst>
          </a:custGeom>
          <a:solidFill>
            <a:srgbClr val="F1610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48054" y="3416731"/>
            <a:ext cx="1087755" cy="893444"/>
          </a:xfrm>
          <a:custGeom>
            <a:avLst/>
            <a:gdLst/>
            <a:ahLst/>
            <a:cxnLst/>
            <a:rect l="l" t="t" r="r" b="b"/>
            <a:pathLst>
              <a:path w="1087755" h="893445">
                <a:moveTo>
                  <a:pt x="1087132" y="667042"/>
                </a:moveTo>
                <a:lnTo>
                  <a:pt x="1082763" y="622820"/>
                </a:lnTo>
                <a:lnTo>
                  <a:pt x="1069873" y="580275"/>
                </a:lnTo>
                <a:lnTo>
                  <a:pt x="1048918" y="541083"/>
                </a:lnTo>
                <a:lnTo>
                  <a:pt x="1020724" y="506717"/>
                </a:lnTo>
                <a:lnTo>
                  <a:pt x="863828" y="349846"/>
                </a:lnTo>
                <a:lnTo>
                  <a:pt x="543572" y="29565"/>
                </a:lnTo>
                <a:lnTo>
                  <a:pt x="513994" y="0"/>
                </a:lnTo>
                <a:lnTo>
                  <a:pt x="193725" y="320268"/>
                </a:lnTo>
                <a:lnTo>
                  <a:pt x="223291" y="349846"/>
                </a:lnTo>
                <a:lnTo>
                  <a:pt x="66408" y="506717"/>
                </a:lnTo>
                <a:lnTo>
                  <a:pt x="38214" y="541083"/>
                </a:lnTo>
                <a:lnTo>
                  <a:pt x="17259" y="580275"/>
                </a:lnTo>
                <a:lnTo>
                  <a:pt x="4356" y="622820"/>
                </a:lnTo>
                <a:lnTo>
                  <a:pt x="0" y="667042"/>
                </a:lnTo>
                <a:lnTo>
                  <a:pt x="482" y="681875"/>
                </a:lnTo>
                <a:lnTo>
                  <a:pt x="7734" y="725716"/>
                </a:lnTo>
                <a:lnTo>
                  <a:pt x="23380" y="767308"/>
                </a:lnTo>
                <a:lnTo>
                  <a:pt x="46824" y="805040"/>
                </a:lnTo>
                <a:lnTo>
                  <a:pt x="76962" y="837222"/>
                </a:lnTo>
                <a:lnTo>
                  <a:pt x="113004" y="863028"/>
                </a:lnTo>
                <a:lnTo>
                  <a:pt x="153479" y="881367"/>
                </a:lnTo>
                <a:lnTo>
                  <a:pt x="196773" y="891463"/>
                </a:lnTo>
                <a:lnTo>
                  <a:pt x="226364" y="893406"/>
                </a:lnTo>
                <a:lnTo>
                  <a:pt x="241198" y="892924"/>
                </a:lnTo>
                <a:lnTo>
                  <a:pt x="285051" y="885672"/>
                </a:lnTo>
                <a:lnTo>
                  <a:pt x="326631" y="870026"/>
                </a:lnTo>
                <a:lnTo>
                  <a:pt x="364375" y="846556"/>
                </a:lnTo>
                <a:lnTo>
                  <a:pt x="543560" y="670128"/>
                </a:lnTo>
                <a:lnTo>
                  <a:pt x="700443" y="826998"/>
                </a:lnTo>
                <a:lnTo>
                  <a:pt x="734796" y="855192"/>
                </a:lnTo>
                <a:lnTo>
                  <a:pt x="774001" y="876147"/>
                </a:lnTo>
                <a:lnTo>
                  <a:pt x="816533" y="889050"/>
                </a:lnTo>
                <a:lnTo>
                  <a:pt x="860767" y="893406"/>
                </a:lnTo>
                <a:lnTo>
                  <a:pt x="875601" y="892924"/>
                </a:lnTo>
                <a:lnTo>
                  <a:pt x="919441" y="885672"/>
                </a:lnTo>
                <a:lnTo>
                  <a:pt x="961034" y="870026"/>
                </a:lnTo>
                <a:lnTo>
                  <a:pt x="998766" y="846582"/>
                </a:lnTo>
                <a:lnTo>
                  <a:pt x="1030947" y="816444"/>
                </a:lnTo>
                <a:lnTo>
                  <a:pt x="1056754" y="780402"/>
                </a:lnTo>
                <a:lnTo>
                  <a:pt x="1075093" y="739927"/>
                </a:lnTo>
                <a:lnTo>
                  <a:pt x="1085189" y="696633"/>
                </a:lnTo>
                <a:lnTo>
                  <a:pt x="1086637" y="681875"/>
                </a:lnTo>
                <a:lnTo>
                  <a:pt x="1087132" y="667042"/>
                </a:lnTo>
                <a:close/>
              </a:path>
            </a:pathLst>
          </a:custGeom>
          <a:solidFill>
            <a:srgbClr val="F262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60589" y="2923483"/>
            <a:ext cx="13951585" cy="2887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1" i="0">
                <a:solidFill>
                  <a:srgbClr val="2626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1" i="0">
                <a:solidFill>
                  <a:srgbClr val="2626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1" i="0">
                <a:solidFill>
                  <a:srgbClr val="2626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1" i="0">
                <a:solidFill>
                  <a:srgbClr val="2626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31356" y="1472895"/>
            <a:ext cx="13679839" cy="1139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1" i="0">
                <a:solidFill>
                  <a:srgbClr val="26262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453" y="9621815"/>
            <a:ext cx="25120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 err="1">
                <a:solidFill>
                  <a:srgbClr val="262626"/>
                </a:solidFill>
                <a:latin typeface="Arial MT"/>
                <a:cs typeface="Arial MT"/>
              </a:rPr>
              <a:t>Karumanc</a:t>
            </a:r>
            <a:r>
              <a:rPr lang="en-IN" sz="2000" spc="-10" dirty="0">
                <a:solidFill>
                  <a:srgbClr val="262626"/>
                </a:solidFill>
                <a:latin typeface="Arial MT"/>
                <a:cs typeface="Arial MT"/>
              </a:rPr>
              <a:t>hi </a:t>
            </a:r>
            <a:r>
              <a:rPr lang="en-IN" sz="2000" dirty="0">
                <a:solidFill>
                  <a:srgbClr val="262626"/>
                </a:solidFill>
                <a:latin typeface="Arial MT"/>
                <a:cs typeface="Arial MT"/>
              </a:rPr>
              <a:t>Hemanth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05761" y="9624101"/>
            <a:ext cx="1210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62626"/>
                </a:solidFill>
                <a:latin typeface="Arial MT"/>
                <a:cs typeface="Arial MT"/>
              </a:rPr>
              <a:t>8/13/2026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xfrm>
            <a:off x="1285650" y="2667219"/>
            <a:ext cx="15327486" cy="2921313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 algn="ctr">
              <a:lnSpc>
                <a:spcPts val="10780"/>
              </a:lnSpc>
              <a:spcBef>
                <a:spcPts val="1180"/>
              </a:spcBef>
            </a:pPr>
            <a:r>
              <a:rPr sz="7500" spc="-114" dirty="0" err="1"/>
              <a:t>MedAssist</a:t>
            </a:r>
            <a:r>
              <a:rPr lang="en-IN" sz="7500" spc="-795" dirty="0"/>
              <a:t>  </a:t>
            </a:r>
            <a:r>
              <a:rPr sz="7500" spc="-395" dirty="0"/>
              <a:t>AI</a:t>
            </a:r>
            <a:br>
              <a:rPr lang="en-IN" sz="5000" spc="-795" dirty="0"/>
            </a:br>
            <a:r>
              <a:rPr lang="en-US" sz="10000" dirty="0"/>
              <a:t>🏥</a:t>
            </a:r>
            <a:r>
              <a:rPr lang="en-US" sz="4000" dirty="0"/>
              <a:t>AI-Powered Healthcare Assistance Platform</a:t>
            </a:r>
            <a:endParaRPr sz="5000" dirty="0"/>
          </a:p>
        </p:txBody>
      </p:sp>
      <p:sp>
        <p:nvSpPr>
          <p:cNvPr id="5" name="object 5"/>
          <p:cNvSpPr txBox="1"/>
          <p:nvPr/>
        </p:nvSpPr>
        <p:spPr>
          <a:xfrm>
            <a:off x="2838071" y="5491937"/>
            <a:ext cx="132676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292929"/>
                </a:solidFill>
                <a:latin typeface="Arial MT"/>
                <a:cs typeface="Arial MT"/>
              </a:rPr>
              <a:t>Disease</a:t>
            </a:r>
            <a:r>
              <a:rPr sz="3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292929"/>
                </a:solidFill>
                <a:latin typeface="Arial MT"/>
                <a:cs typeface="Arial MT"/>
              </a:rPr>
              <a:t>Prediction</a:t>
            </a:r>
            <a:r>
              <a:rPr sz="3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3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200" spc="-60" dirty="0">
                <a:solidFill>
                  <a:srgbClr val="292929"/>
                </a:solidFill>
                <a:latin typeface="Arial MT"/>
                <a:cs typeface="Arial MT"/>
              </a:rPr>
              <a:t>Risk</a:t>
            </a:r>
            <a:r>
              <a:rPr sz="3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92929"/>
                </a:solidFill>
                <a:latin typeface="Arial MT"/>
                <a:cs typeface="Arial MT"/>
              </a:rPr>
              <a:t>Assessment</a:t>
            </a:r>
            <a:r>
              <a:rPr sz="3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92929"/>
                </a:solidFill>
                <a:latin typeface="Arial MT"/>
                <a:cs typeface="Arial MT"/>
              </a:rPr>
              <a:t>—</a:t>
            </a:r>
            <a:r>
              <a:rPr sz="3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92929"/>
                </a:solidFill>
                <a:latin typeface="Arial MT"/>
                <a:cs typeface="Arial MT"/>
              </a:rPr>
              <a:t>review</a:t>
            </a:r>
            <a:r>
              <a:rPr sz="3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3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200" spc="65" dirty="0">
                <a:solidFill>
                  <a:srgbClr val="292929"/>
                </a:solidFill>
                <a:latin typeface="Arial MT"/>
                <a:cs typeface="Arial MT"/>
              </a:rPr>
              <a:t>academic</a:t>
            </a:r>
            <a:r>
              <a:rPr sz="3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3200" spc="70" dirty="0">
                <a:solidFill>
                  <a:srgbClr val="292929"/>
                </a:solidFill>
                <a:latin typeface="Arial MT"/>
                <a:cs typeface="Arial MT"/>
              </a:rPr>
              <a:t>mentor</a:t>
            </a:r>
            <a:endParaRPr sz="3200" dirty="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1"/>
            <a:ext cx="14630400" cy="948690"/>
            <a:chOff x="0" y="1"/>
            <a:chExt cx="14536419" cy="948690"/>
          </a:xfrm>
        </p:grpSpPr>
        <p:sp>
          <p:nvSpPr>
            <p:cNvPr id="7" name="object 7"/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69895" y="9410700"/>
            <a:ext cx="17358995" cy="9525"/>
          </a:xfrm>
          <a:custGeom>
            <a:avLst/>
            <a:gdLst/>
            <a:ahLst/>
            <a:cxnLst/>
            <a:rect l="l" t="t" r="r" b="b"/>
            <a:pathLst>
              <a:path w="17358995" h="952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9">
            <a:extLst>
              <a:ext uri="{FF2B5EF4-FFF2-40B4-BE49-F238E27FC236}">
                <a16:creationId xmlns:a16="http://schemas.microsoft.com/office/drawing/2014/main" id="{CFBE80D1-A978-4CD8-8034-61702D3E6907}"/>
              </a:ext>
            </a:extLst>
          </p:cNvPr>
          <p:cNvGrpSpPr/>
          <p:nvPr/>
        </p:nvGrpSpPr>
        <p:grpSpPr>
          <a:xfrm>
            <a:off x="8294709" y="1761303"/>
            <a:ext cx="1143000" cy="1185742"/>
            <a:chOff x="989581" y="1692471"/>
            <a:chExt cx="845819" cy="845819"/>
          </a:xfrm>
          <a:solidFill>
            <a:schemeClr val="tx2"/>
          </a:solidFill>
        </p:grpSpPr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51E6FC06-5558-4683-B13D-D426F1358EB8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A61AB47C-E097-46BA-BB79-F32F803BE1DA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9A308999-8BD6-4244-9EA4-7BC1D193FC5D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2">
            <a:extLst>
              <a:ext uri="{FF2B5EF4-FFF2-40B4-BE49-F238E27FC236}">
                <a16:creationId xmlns:a16="http://schemas.microsoft.com/office/drawing/2014/main" id="{7002D579-6503-4714-932F-2BB607C8D439}"/>
              </a:ext>
            </a:extLst>
          </p:cNvPr>
          <p:cNvSpPr txBox="1"/>
          <p:nvPr/>
        </p:nvSpPr>
        <p:spPr>
          <a:xfrm>
            <a:off x="5387014" y="8161501"/>
            <a:ext cx="816980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3000" b="1" dirty="0">
                <a:solidFill>
                  <a:srgbClr val="262626"/>
                </a:solidFill>
                <a:latin typeface="Arial MT"/>
                <a:cs typeface="Arial MT"/>
              </a:rPr>
              <a:t>Milestone 2</a:t>
            </a:r>
            <a:br>
              <a:rPr lang="en-IN" sz="3000" dirty="0">
                <a:solidFill>
                  <a:srgbClr val="262626"/>
                </a:solidFill>
                <a:latin typeface="Arial MT"/>
                <a:cs typeface="Arial MT"/>
              </a:rPr>
            </a:br>
            <a:r>
              <a:rPr lang="en-US" sz="3000" dirty="0">
                <a:solidFill>
                  <a:srgbClr val="292929"/>
                </a:solidFill>
                <a:latin typeface="Arial MT"/>
                <a:cs typeface="Arial MT"/>
              </a:rPr>
              <a:t>Disease</a:t>
            </a:r>
            <a:r>
              <a:rPr lang="en-US" sz="30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lang="en-US" sz="3000" spc="50" dirty="0">
                <a:solidFill>
                  <a:srgbClr val="292929"/>
                </a:solidFill>
                <a:latin typeface="Arial MT"/>
                <a:cs typeface="Arial MT"/>
              </a:rPr>
              <a:t>Prediction</a:t>
            </a:r>
            <a:r>
              <a:rPr lang="en-US" sz="30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lang="en-US" sz="3000" spc="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lang="en-US" sz="30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lang="en-US" sz="3000" spc="-60" dirty="0">
                <a:solidFill>
                  <a:srgbClr val="292929"/>
                </a:solidFill>
                <a:latin typeface="Arial MT"/>
                <a:cs typeface="Arial MT"/>
              </a:rPr>
              <a:t>Risk</a:t>
            </a:r>
            <a:r>
              <a:rPr lang="en-US" sz="30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lang="en-US" sz="3000" dirty="0">
                <a:solidFill>
                  <a:srgbClr val="292929"/>
                </a:solidFill>
                <a:latin typeface="Arial MT"/>
                <a:cs typeface="Arial MT"/>
              </a:rPr>
              <a:t>Assessment</a:t>
            </a:r>
            <a:endParaRPr sz="3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839577" y="1411504"/>
            <a:ext cx="13679839" cy="707223"/>
          </a:xfrm>
          <a:prstGeom prst="rect">
            <a:avLst/>
          </a:prstGeom>
        </p:spPr>
        <p:txBody>
          <a:bodyPr vert="horz" wrap="square" lIns="0" tIns="90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95" dirty="0"/>
              <a:t>Milestone</a:t>
            </a:r>
            <a:r>
              <a:rPr sz="4000" spc="-455" dirty="0"/>
              <a:t> </a:t>
            </a:r>
            <a:r>
              <a:rPr sz="4000" spc="265" dirty="0"/>
              <a:t>2</a:t>
            </a:r>
            <a:r>
              <a:rPr sz="4000" spc="-450" dirty="0"/>
              <a:t> </a:t>
            </a:r>
            <a:r>
              <a:rPr lang="en-IN" sz="4000" spc="-125" dirty="0"/>
              <a:t>Deliverables</a:t>
            </a:r>
            <a:endParaRPr sz="4000" spc="-75" dirty="0"/>
          </a:p>
        </p:txBody>
      </p:sp>
      <p:sp>
        <p:nvSpPr>
          <p:cNvPr id="13" name="object 13"/>
          <p:cNvSpPr/>
          <p:nvPr/>
        </p:nvSpPr>
        <p:spPr>
          <a:xfrm>
            <a:off x="439540" y="9791700"/>
            <a:ext cx="17358995" cy="9525"/>
          </a:xfrm>
          <a:custGeom>
            <a:avLst/>
            <a:gdLst/>
            <a:ahLst/>
            <a:cxnLst/>
            <a:rect l="l" t="t" r="r" b="b"/>
            <a:pathLst>
              <a:path w="17358995" h="952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31005" y="2752624"/>
            <a:ext cx="10400276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200" b="1" dirty="0"/>
              <a:t>01 — AI Model Development</a:t>
            </a:r>
            <a:br>
              <a:rPr lang="en-US" sz="2200" dirty="0"/>
            </a:br>
            <a:r>
              <a:rPr lang="en-US" sz="2400" dirty="0"/>
              <a:t>Disease classification with full ML pipeline</a:t>
            </a:r>
          </a:p>
          <a:p>
            <a:endParaRPr lang="en-US" sz="2400" dirty="0"/>
          </a:p>
          <a:p>
            <a:r>
              <a:rPr lang="en-US" sz="2200" b="1" dirty="0"/>
              <a:t>02 — Patient Dashboard</a:t>
            </a:r>
            <a:br>
              <a:rPr lang="en-US" sz="2200" dirty="0"/>
            </a:br>
            <a:r>
              <a:rPr lang="en-IN" sz="2400" dirty="0"/>
              <a:t>Symptom input, prediction &amp; recommendations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r>
              <a:rPr lang="en-US" sz="2200" b="1" dirty="0"/>
              <a:t>03 — Caretaker Dashboard</a:t>
            </a:r>
            <a:br>
              <a:rPr lang="en-US" sz="2200" dirty="0"/>
            </a:br>
            <a:r>
              <a:rPr lang="en-US" sz="2400" dirty="0"/>
              <a:t>Assigned patient monitoring &amp; role-based access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r>
              <a:rPr lang="en-US" sz="2200" b="1" dirty="0"/>
              <a:t>04 — System Integration</a:t>
            </a:r>
            <a:br>
              <a:rPr lang="en-US" sz="2200" dirty="0"/>
            </a:br>
            <a:r>
              <a:rPr lang="en-IN" sz="2400" dirty="0"/>
              <a:t>React → </a:t>
            </a:r>
            <a:r>
              <a:rPr lang="en-IN" sz="2400" dirty="0" err="1"/>
              <a:t>FastAPI</a:t>
            </a:r>
            <a:r>
              <a:rPr lang="en-IN" sz="2400" dirty="0"/>
              <a:t> → PostgreSQL end-to-end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596834" y="7535397"/>
            <a:ext cx="8522204" cy="598518"/>
            <a:chOff x="3044130" y="5762228"/>
            <a:chExt cx="8270875" cy="103505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6" name="object 16"/>
            <p:cNvSpPr/>
            <p:nvPr/>
          </p:nvSpPr>
          <p:spPr>
            <a:xfrm>
              <a:off x="3044130" y="5762228"/>
              <a:ext cx="8270875" cy="1035050"/>
            </a:xfrm>
            <a:custGeom>
              <a:avLst/>
              <a:gdLst/>
              <a:ahLst/>
              <a:cxnLst/>
              <a:rect l="l" t="t" r="r" b="b"/>
              <a:pathLst>
                <a:path w="8270875" h="1035050">
                  <a:moveTo>
                    <a:pt x="8086267" y="76"/>
                  </a:moveTo>
                  <a:lnTo>
                    <a:pt x="190500" y="0"/>
                  </a:lnTo>
                  <a:lnTo>
                    <a:pt x="138188" y="7302"/>
                  </a:lnTo>
                  <a:lnTo>
                    <a:pt x="87261" y="30378"/>
                  </a:lnTo>
                  <a:lnTo>
                    <a:pt x="45224" y="67233"/>
                  </a:lnTo>
                  <a:lnTo>
                    <a:pt x="15697" y="114719"/>
                  </a:lnTo>
                  <a:lnTo>
                    <a:pt x="1219" y="168719"/>
                  </a:lnTo>
                  <a:lnTo>
                    <a:pt x="0" y="844448"/>
                  </a:lnTo>
                  <a:lnTo>
                    <a:pt x="609" y="860018"/>
                  </a:lnTo>
                  <a:lnTo>
                    <a:pt x="13309" y="914476"/>
                  </a:lnTo>
                  <a:lnTo>
                    <a:pt x="39344" y="960437"/>
                  </a:lnTo>
                  <a:lnTo>
                    <a:pt x="74510" y="995603"/>
                  </a:lnTo>
                  <a:lnTo>
                    <a:pt x="123380" y="1022769"/>
                  </a:lnTo>
                  <a:lnTo>
                    <a:pt x="168719" y="1033729"/>
                  </a:lnTo>
                  <a:lnTo>
                    <a:pt x="184264" y="1034872"/>
                  </a:lnTo>
                  <a:lnTo>
                    <a:pt x="8086267" y="1034872"/>
                  </a:lnTo>
                  <a:lnTo>
                    <a:pt x="8138312" y="1025842"/>
                  </a:lnTo>
                  <a:lnTo>
                    <a:pt x="8183270" y="1004569"/>
                  </a:lnTo>
                  <a:lnTo>
                    <a:pt x="8223275" y="970076"/>
                  </a:lnTo>
                  <a:lnTo>
                    <a:pt x="8249500" y="931506"/>
                  </a:lnTo>
                  <a:lnTo>
                    <a:pt x="8266264" y="884669"/>
                  </a:lnTo>
                  <a:lnTo>
                    <a:pt x="8270455" y="850684"/>
                  </a:lnTo>
                  <a:lnTo>
                    <a:pt x="8270455" y="184264"/>
                  </a:lnTo>
                  <a:lnTo>
                    <a:pt x="8263229" y="138188"/>
                  </a:lnTo>
                  <a:lnTo>
                    <a:pt x="8240153" y="87261"/>
                  </a:lnTo>
                  <a:lnTo>
                    <a:pt x="8203285" y="45224"/>
                  </a:lnTo>
                  <a:lnTo>
                    <a:pt x="8155813" y="15697"/>
                  </a:lnTo>
                  <a:lnTo>
                    <a:pt x="8101799" y="1219"/>
                  </a:lnTo>
                  <a:lnTo>
                    <a:pt x="8086267" y="7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3044130" y="5838428"/>
              <a:ext cx="38100" cy="882650"/>
            </a:xfrm>
            <a:custGeom>
              <a:avLst/>
              <a:gdLst/>
              <a:ahLst/>
              <a:cxnLst/>
              <a:rect l="l" t="t" r="r" b="b"/>
              <a:pathLst>
                <a:path w="38100" h="882650">
                  <a:moveTo>
                    <a:pt x="19050" y="0"/>
                  </a:moveTo>
                  <a:lnTo>
                    <a:pt x="0" y="863498"/>
                  </a:lnTo>
                  <a:lnTo>
                    <a:pt x="152" y="865987"/>
                  </a:lnTo>
                  <a:lnTo>
                    <a:pt x="2539" y="873036"/>
                  </a:lnTo>
                  <a:lnTo>
                    <a:pt x="7442" y="878624"/>
                  </a:lnTo>
                  <a:lnTo>
                    <a:pt x="14122" y="881913"/>
                  </a:lnTo>
                  <a:lnTo>
                    <a:pt x="21539" y="882396"/>
                  </a:lnTo>
                  <a:lnTo>
                    <a:pt x="28575" y="880008"/>
                  </a:lnTo>
                  <a:lnTo>
                    <a:pt x="34175" y="875106"/>
                  </a:lnTo>
                  <a:lnTo>
                    <a:pt x="37617" y="867829"/>
                  </a:lnTo>
                  <a:lnTo>
                    <a:pt x="38100" y="19050"/>
                  </a:lnTo>
                  <a:lnTo>
                    <a:pt x="37096" y="12928"/>
                  </a:lnTo>
                  <a:lnTo>
                    <a:pt x="33375" y="6477"/>
                  </a:lnTo>
                  <a:lnTo>
                    <a:pt x="26911" y="1689"/>
                  </a:lnTo>
                  <a:lnTo>
                    <a:pt x="1905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6">
            <a:extLst>
              <a:ext uri="{FF2B5EF4-FFF2-40B4-BE49-F238E27FC236}">
                <a16:creationId xmlns:a16="http://schemas.microsoft.com/office/drawing/2014/main" id="{C2093C9E-450C-478A-B10D-03CE131B53D2}"/>
              </a:ext>
            </a:extLst>
          </p:cNvPr>
          <p:cNvGrpSpPr/>
          <p:nvPr/>
        </p:nvGrpSpPr>
        <p:grpSpPr>
          <a:xfrm>
            <a:off x="0" y="1"/>
            <a:ext cx="14630400" cy="948690"/>
            <a:chOff x="0" y="1"/>
            <a:chExt cx="14536419" cy="948690"/>
          </a:xfrm>
        </p:grpSpPr>
        <p:sp>
          <p:nvSpPr>
            <p:cNvPr id="27" name="object 7">
              <a:extLst>
                <a:ext uri="{FF2B5EF4-FFF2-40B4-BE49-F238E27FC236}">
                  <a16:creationId xmlns:a16="http://schemas.microsoft.com/office/drawing/2014/main" id="{1626CBEA-AFF8-4D9D-AD89-9FA3F95356B2}"/>
                </a:ext>
              </a:extLst>
            </p:cNvPr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8">
              <a:extLst>
                <a:ext uri="{FF2B5EF4-FFF2-40B4-BE49-F238E27FC236}">
                  <a16:creationId xmlns:a16="http://schemas.microsoft.com/office/drawing/2014/main" id="{862A8513-A408-4D11-B63D-557806FA184F}"/>
                </a:ext>
              </a:extLst>
            </p:cNvPr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9">
              <a:extLst>
                <a:ext uri="{FF2B5EF4-FFF2-40B4-BE49-F238E27FC236}">
                  <a16:creationId xmlns:a16="http://schemas.microsoft.com/office/drawing/2014/main" id="{E02C7116-5351-418A-8EFD-1C5C78F7E08B}"/>
                </a:ext>
              </a:extLst>
            </p:cNvPr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9">
            <a:extLst>
              <a:ext uri="{FF2B5EF4-FFF2-40B4-BE49-F238E27FC236}">
                <a16:creationId xmlns:a16="http://schemas.microsoft.com/office/drawing/2014/main" id="{ED4CC473-6C50-420E-BDA9-15B20FEC33FD}"/>
              </a:ext>
            </a:extLst>
          </p:cNvPr>
          <p:cNvGrpSpPr/>
          <p:nvPr/>
        </p:nvGrpSpPr>
        <p:grpSpPr>
          <a:xfrm>
            <a:off x="607629" y="1413240"/>
            <a:ext cx="846773" cy="686437"/>
            <a:chOff x="989581" y="1692471"/>
            <a:chExt cx="845819" cy="845819"/>
          </a:xfrm>
          <a:solidFill>
            <a:schemeClr val="tx2"/>
          </a:solidFill>
        </p:grpSpPr>
        <p:sp>
          <p:nvSpPr>
            <p:cNvPr id="31" name="object 10">
              <a:extLst>
                <a:ext uri="{FF2B5EF4-FFF2-40B4-BE49-F238E27FC236}">
                  <a16:creationId xmlns:a16="http://schemas.microsoft.com/office/drawing/2014/main" id="{F705F6DB-CC20-4EF9-9AF3-EE7794E8EDCF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1">
              <a:extLst>
                <a:ext uri="{FF2B5EF4-FFF2-40B4-BE49-F238E27FC236}">
                  <a16:creationId xmlns:a16="http://schemas.microsoft.com/office/drawing/2014/main" id="{F5297F09-F25E-463C-8B0F-4692F7253453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2">
              <a:extLst>
                <a:ext uri="{FF2B5EF4-FFF2-40B4-BE49-F238E27FC236}">
                  <a16:creationId xmlns:a16="http://schemas.microsoft.com/office/drawing/2014/main" id="{BACADB91-03E6-47FF-B505-E0B82F8FCD9C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A984D64-1401-49FA-97E1-3371E0F15AA4}"/>
              </a:ext>
            </a:extLst>
          </p:cNvPr>
          <p:cNvSpPr/>
          <p:nvPr/>
        </p:nvSpPr>
        <p:spPr>
          <a:xfrm>
            <a:off x="816605" y="7535397"/>
            <a:ext cx="8082662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500" b="1" dirty="0">
                <a:solidFill>
                  <a:schemeClr val="tx1"/>
                </a:solidFill>
              </a:rPr>
              <a:t>Python • </a:t>
            </a:r>
            <a:r>
              <a:rPr lang="en-IN" sz="2500" b="1" dirty="0" err="1">
                <a:solidFill>
                  <a:schemeClr val="tx1"/>
                </a:solidFill>
              </a:rPr>
              <a:t>Scikit</a:t>
            </a:r>
            <a:r>
              <a:rPr lang="en-IN" sz="2500" b="1" dirty="0">
                <a:solidFill>
                  <a:schemeClr val="tx1"/>
                </a:solidFill>
              </a:rPr>
              <a:t>-learn • </a:t>
            </a:r>
            <a:r>
              <a:rPr lang="en-IN" sz="2500" b="1" dirty="0" err="1">
                <a:solidFill>
                  <a:schemeClr val="tx1"/>
                </a:solidFill>
              </a:rPr>
              <a:t>FastAPI</a:t>
            </a:r>
            <a:r>
              <a:rPr lang="en-IN" sz="2500" b="1" dirty="0">
                <a:solidFill>
                  <a:schemeClr val="tx1"/>
                </a:solidFill>
              </a:rPr>
              <a:t> • PostgreSQL • React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CEFDCAD-34F0-4907-B275-E104A3C01FF5}"/>
              </a:ext>
            </a:extLst>
          </p:cNvPr>
          <p:cNvSpPr/>
          <p:nvPr/>
        </p:nvSpPr>
        <p:spPr>
          <a:xfrm>
            <a:off x="10668000" y="1857466"/>
            <a:ext cx="6352513" cy="6591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500" b="1" dirty="0"/>
              <a:t>MILESTONE 1</a:t>
            </a:r>
          </a:p>
          <a:p>
            <a:pPr algn="ctr"/>
            <a:br>
              <a:rPr lang="en-IN" sz="2500" dirty="0"/>
            </a:br>
            <a:r>
              <a:rPr lang="en-IN" sz="2500" i="1" dirty="0"/>
              <a:t>Foundation</a:t>
            </a:r>
            <a:br>
              <a:rPr lang="en-IN" sz="2500" dirty="0"/>
            </a:br>
            <a:r>
              <a:rPr lang="en-IN" sz="2500" dirty="0"/>
              <a:t>↓</a:t>
            </a:r>
            <a:br>
              <a:rPr lang="en-IN" sz="2500" dirty="0"/>
            </a:br>
            <a:r>
              <a:rPr lang="en-IN" sz="2500" dirty="0"/>
              <a:t>👤 </a:t>
            </a:r>
            <a:r>
              <a:rPr lang="en-IN" sz="2500" b="1" dirty="0"/>
              <a:t>Patient Management</a:t>
            </a:r>
            <a:br>
              <a:rPr lang="en-IN" sz="2500" dirty="0"/>
            </a:br>
            <a:r>
              <a:rPr lang="en-IN" sz="2500" dirty="0"/>
              <a:t>↓</a:t>
            </a:r>
            <a:br>
              <a:rPr lang="en-IN" sz="2500" dirty="0"/>
            </a:br>
            <a:r>
              <a:rPr lang="en-IN" sz="2500" dirty="0"/>
              <a:t>🩺 </a:t>
            </a:r>
            <a:r>
              <a:rPr lang="en-IN" sz="2500" b="1" dirty="0"/>
              <a:t>Health Data Collection</a:t>
            </a:r>
            <a:br>
              <a:rPr lang="en-IN" sz="2500" dirty="0"/>
            </a:br>
            <a:r>
              <a:rPr lang="en-IN" sz="2500" dirty="0"/>
              <a:t>↓</a:t>
            </a:r>
            <a:br>
              <a:rPr lang="en-IN" sz="2500" dirty="0"/>
            </a:br>
            <a:r>
              <a:rPr lang="en-IN" sz="2500" dirty="0"/>
              <a:t>🤖 </a:t>
            </a:r>
            <a:r>
              <a:rPr lang="en-IN" sz="2500" b="1" dirty="0"/>
              <a:t>AI Prediction Foundation</a:t>
            </a:r>
            <a:br>
              <a:rPr lang="en-IN" sz="2500" dirty="0"/>
            </a:br>
            <a:r>
              <a:rPr lang="en-IN" sz="2500" dirty="0"/>
              <a:t>↓</a:t>
            </a:r>
            <a:br>
              <a:rPr lang="en-IN" sz="2500" dirty="0"/>
            </a:br>
            <a:r>
              <a:rPr lang="en-IN" sz="2500" dirty="0"/>
              <a:t>👨‍⚕️ </a:t>
            </a:r>
            <a:r>
              <a:rPr lang="en-IN" sz="2500" b="1" dirty="0"/>
              <a:t>Caretaker Management</a:t>
            </a:r>
            <a:br>
              <a:rPr lang="en-IN" sz="2500" dirty="0"/>
            </a:br>
            <a:r>
              <a:rPr lang="en-IN" sz="2500" dirty="0"/>
              <a:t>↓</a:t>
            </a:r>
            <a:br>
              <a:rPr lang="en-IN" sz="2500" dirty="0"/>
            </a:br>
            <a:r>
              <a:rPr lang="en-IN" sz="2500" b="1" dirty="0"/>
              <a:t>MILESTONE 2</a:t>
            </a:r>
            <a:br>
              <a:rPr lang="en-IN" sz="2500" dirty="0"/>
            </a:br>
            <a:r>
              <a:rPr lang="en-IN" sz="2500" i="1" dirty="0"/>
              <a:t>AI + Integration + Advanced Features</a:t>
            </a:r>
            <a:endParaRPr lang="en-IN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676400" y="1566030"/>
            <a:ext cx="1367983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lang="en-IN" sz="4000" spc="-200" dirty="0"/>
              <a:t>AI Model Development</a:t>
            </a:r>
            <a:endParaRPr sz="4000" spc="-100" dirty="0"/>
          </a:p>
        </p:txBody>
      </p:sp>
      <p:sp>
        <p:nvSpPr>
          <p:cNvPr id="20" name="object 20"/>
          <p:cNvSpPr/>
          <p:nvPr/>
        </p:nvSpPr>
        <p:spPr>
          <a:xfrm>
            <a:off x="464502" y="9791700"/>
            <a:ext cx="17358995" cy="9525"/>
          </a:xfrm>
          <a:custGeom>
            <a:avLst/>
            <a:gdLst/>
            <a:ahLst/>
            <a:cxnLst/>
            <a:rect l="l" t="t" r="r" b="b"/>
            <a:pathLst>
              <a:path w="17358995" h="952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6">
            <a:extLst>
              <a:ext uri="{FF2B5EF4-FFF2-40B4-BE49-F238E27FC236}">
                <a16:creationId xmlns:a16="http://schemas.microsoft.com/office/drawing/2014/main" id="{5126E852-C252-4637-A110-1DEB479A0EB7}"/>
              </a:ext>
            </a:extLst>
          </p:cNvPr>
          <p:cNvGrpSpPr/>
          <p:nvPr/>
        </p:nvGrpSpPr>
        <p:grpSpPr>
          <a:xfrm>
            <a:off x="0" y="1"/>
            <a:ext cx="14630400" cy="948690"/>
            <a:chOff x="0" y="1"/>
            <a:chExt cx="14536419" cy="948690"/>
          </a:xfrm>
        </p:grpSpPr>
        <p:sp>
          <p:nvSpPr>
            <p:cNvPr id="22" name="object 7">
              <a:extLst>
                <a:ext uri="{FF2B5EF4-FFF2-40B4-BE49-F238E27FC236}">
                  <a16:creationId xmlns:a16="http://schemas.microsoft.com/office/drawing/2014/main" id="{C89CB232-76DB-4492-8DFF-F6D3048BB223}"/>
                </a:ext>
              </a:extLst>
            </p:cNvPr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8">
              <a:extLst>
                <a:ext uri="{FF2B5EF4-FFF2-40B4-BE49-F238E27FC236}">
                  <a16:creationId xmlns:a16="http://schemas.microsoft.com/office/drawing/2014/main" id="{D12D5BF8-276C-45EF-B7D9-26186527E6C2}"/>
                </a:ext>
              </a:extLst>
            </p:cNvPr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9">
              <a:extLst>
                <a:ext uri="{FF2B5EF4-FFF2-40B4-BE49-F238E27FC236}">
                  <a16:creationId xmlns:a16="http://schemas.microsoft.com/office/drawing/2014/main" id="{967B227C-BAC8-41EE-BD86-6ECC67B24E3F}"/>
                </a:ext>
              </a:extLst>
            </p:cNvPr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9">
            <a:extLst>
              <a:ext uri="{FF2B5EF4-FFF2-40B4-BE49-F238E27FC236}">
                <a16:creationId xmlns:a16="http://schemas.microsoft.com/office/drawing/2014/main" id="{6F27309E-BC78-4916-AC20-F680F754CFB0}"/>
              </a:ext>
            </a:extLst>
          </p:cNvPr>
          <p:cNvGrpSpPr/>
          <p:nvPr/>
        </p:nvGrpSpPr>
        <p:grpSpPr>
          <a:xfrm>
            <a:off x="609600" y="1544091"/>
            <a:ext cx="846773" cy="686437"/>
            <a:chOff x="989581" y="1692471"/>
            <a:chExt cx="845819" cy="845819"/>
          </a:xfrm>
          <a:solidFill>
            <a:schemeClr val="tx2"/>
          </a:solidFill>
        </p:grpSpPr>
        <p:sp>
          <p:nvSpPr>
            <p:cNvPr id="30" name="object 10">
              <a:extLst>
                <a:ext uri="{FF2B5EF4-FFF2-40B4-BE49-F238E27FC236}">
                  <a16:creationId xmlns:a16="http://schemas.microsoft.com/office/drawing/2014/main" id="{74CC739C-69C4-4EE4-8D4B-F699178BA430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1">
              <a:extLst>
                <a:ext uri="{FF2B5EF4-FFF2-40B4-BE49-F238E27FC236}">
                  <a16:creationId xmlns:a16="http://schemas.microsoft.com/office/drawing/2014/main" id="{CA9F5DB5-6CE3-4FE2-977B-9F7FE139B7E4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2">
              <a:extLst>
                <a:ext uri="{FF2B5EF4-FFF2-40B4-BE49-F238E27FC236}">
                  <a16:creationId xmlns:a16="http://schemas.microsoft.com/office/drawing/2014/main" id="{DD8EE99A-FFD9-4AF9-8F01-F72921173912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2">
            <a:extLst>
              <a:ext uri="{FF2B5EF4-FFF2-40B4-BE49-F238E27FC236}">
                <a16:creationId xmlns:a16="http://schemas.microsoft.com/office/drawing/2014/main" id="{DA25AE80-6428-4964-9E75-39CA89A5D8AB}"/>
              </a:ext>
            </a:extLst>
          </p:cNvPr>
          <p:cNvSpPr txBox="1"/>
          <p:nvPr/>
        </p:nvSpPr>
        <p:spPr>
          <a:xfrm>
            <a:off x="2338592" y="2768503"/>
            <a:ext cx="5901393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500" b="1" spc="-10" dirty="0">
                <a:solidFill>
                  <a:srgbClr val="262626"/>
                </a:solidFill>
                <a:latin typeface="Arial MT"/>
                <a:cs typeface="Arial MT"/>
              </a:rPr>
              <a:t>TRAINING – DATASET - EVALUATION</a:t>
            </a:r>
            <a:endParaRPr sz="2500" b="1" dirty="0">
              <a:latin typeface="Arial MT"/>
              <a:cs typeface="Arial MT"/>
            </a:endParaRPr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D5654E08-5C83-403B-A7F7-3ACC97A343D3}"/>
              </a:ext>
            </a:extLst>
          </p:cNvPr>
          <p:cNvSpPr txBox="1"/>
          <p:nvPr/>
        </p:nvSpPr>
        <p:spPr>
          <a:xfrm>
            <a:off x="381000" y="3467100"/>
            <a:ext cx="3048000" cy="236731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5000" b="1" spc="-10" dirty="0">
                <a:solidFill>
                  <a:srgbClr val="262626"/>
                </a:solidFill>
                <a:latin typeface="Arial MT"/>
                <a:cs typeface="Arial MT"/>
              </a:rPr>
              <a:t>304</a:t>
            </a:r>
            <a:br>
              <a:rPr lang="en-IN" sz="2000" b="1" spc="-10" dirty="0">
                <a:solidFill>
                  <a:srgbClr val="262626"/>
                </a:solidFill>
                <a:latin typeface="Arial MT"/>
                <a:cs typeface="Arial MT"/>
              </a:rPr>
            </a:br>
            <a:r>
              <a:rPr lang="en-US" sz="2800" b="1" u="sng" dirty="0">
                <a:solidFill>
                  <a:schemeClr val="tx1"/>
                </a:solidFill>
              </a:rPr>
              <a:t>Unique Records</a:t>
            </a:r>
          </a:p>
          <a:p>
            <a:pPr algn="ctr"/>
            <a:r>
              <a:rPr lang="en-US" sz="2500" dirty="0">
                <a:solidFill>
                  <a:schemeClr val="tx1"/>
                </a:solidFill>
              </a:rPr>
              <a:t>Total labeled medical records in the training dataset</a:t>
            </a:r>
          </a:p>
        </p:txBody>
      </p:sp>
      <p:sp>
        <p:nvSpPr>
          <p:cNvPr id="39" name="object 2">
            <a:extLst>
              <a:ext uri="{FF2B5EF4-FFF2-40B4-BE49-F238E27FC236}">
                <a16:creationId xmlns:a16="http://schemas.microsoft.com/office/drawing/2014/main" id="{D0EA4EAD-A8B2-4656-B088-D27C2651B659}"/>
              </a:ext>
            </a:extLst>
          </p:cNvPr>
          <p:cNvSpPr txBox="1"/>
          <p:nvPr/>
        </p:nvSpPr>
        <p:spPr>
          <a:xfrm>
            <a:off x="3765289" y="3467100"/>
            <a:ext cx="3048000" cy="236731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5000" b="1" spc="-10" dirty="0">
                <a:solidFill>
                  <a:srgbClr val="262626"/>
                </a:solidFill>
                <a:latin typeface="Arial MT"/>
                <a:cs typeface="Arial MT"/>
              </a:rPr>
              <a:t>41</a:t>
            </a:r>
          </a:p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Disease Classes</a:t>
            </a:r>
          </a:p>
          <a:p>
            <a:pPr algn="ctr"/>
            <a:r>
              <a:rPr lang="en-US" sz="2500" dirty="0">
                <a:solidFill>
                  <a:schemeClr val="tx1"/>
                </a:solidFill>
              </a:rPr>
              <a:t>Distinct conditions the model is trained to classify</a:t>
            </a:r>
          </a:p>
        </p:txBody>
      </p:sp>
      <p:sp>
        <p:nvSpPr>
          <p:cNvPr id="40" name="object 2">
            <a:extLst>
              <a:ext uri="{FF2B5EF4-FFF2-40B4-BE49-F238E27FC236}">
                <a16:creationId xmlns:a16="http://schemas.microsoft.com/office/drawing/2014/main" id="{4BBA162A-DB64-4957-B77F-A03F1B94A910}"/>
              </a:ext>
            </a:extLst>
          </p:cNvPr>
          <p:cNvSpPr txBox="1"/>
          <p:nvPr/>
        </p:nvSpPr>
        <p:spPr>
          <a:xfrm>
            <a:off x="7121225" y="3467100"/>
            <a:ext cx="3048000" cy="24134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5000" b="1" spc="-10" dirty="0">
                <a:solidFill>
                  <a:srgbClr val="262626"/>
                </a:solidFill>
                <a:latin typeface="Arial MT"/>
                <a:cs typeface="Arial MT"/>
              </a:rPr>
              <a:t>131</a:t>
            </a:r>
          </a:p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Disease Classes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Symptom Features</a:t>
            </a:r>
          </a:p>
          <a:p>
            <a:pPr algn="ctr"/>
            <a:r>
              <a:rPr lang="en-US" sz="2500" dirty="0">
                <a:solidFill>
                  <a:schemeClr val="tx1"/>
                </a:solidFill>
              </a:rPr>
              <a:t>Binary symptom input features per patient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92ACED5-68F0-499B-90EE-1E02ED858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198" y="1257300"/>
            <a:ext cx="7237054" cy="5408474"/>
          </a:xfrm>
          <a:prstGeom prst="rect">
            <a:avLst/>
          </a:prstGeom>
        </p:spPr>
      </p:pic>
      <p:sp>
        <p:nvSpPr>
          <p:cNvPr id="43" name="object 2">
            <a:extLst>
              <a:ext uri="{FF2B5EF4-FFF2-40B4-BE49-F238E27FC236}">
                <a16:creationId xmlns:a16="http://schemas.microsoft.com/office/drawing/2014/main" id="{8655A669-76C3-4ED5-A697-6D78BF309A03}"/>
              </a:ext>
            </a:extLst>
          </p:cNvPr>
          <p:cNvSpPr txBox="1"/>
          <p:nvPr/>
        </p:nvSpPr>
        <p:spPr>
          <a:xfrm>
            <a:off x="609590" y="6834064"/>
            <a:ext cx="490125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000" b="1" dirty="0"/>
              <a:t>ML Workflow Pipeline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304C341-6F9E-4D03-8F85-80E6F8320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0" y="7402077"/>
            <a:ext cx="17127662" cy="2180232"/>
          </a:xfrm>
          <a:prstGeom prst="rect">
            <a:avLst/>
          </a:prstGeom>
          <a:effectLst>
            <a:outerShdw blurRad="50800" dist="50800" dir="5400000" algn="ctr" rotWithShape="0">
              <a:schemeClr val="tx2">
                <a:lumMod val="40000"/>
                <a:lumOff val="60000"/>
              </a:scheme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754742" y="1592074"/>
            <a:ext cx="1192466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000" spc="-360" dirty="0"/>
              <a:t>Patient Dashboard</a:t>
            </a:r>
            <a:endParaRPr sz="4000" spc="-60" dirty="0"/>
          </a:p>
        </p:txBody>
      </p:sp>
      <p:sp>
        <p:nvSpPr>
          <p:cNvPr id="13" name="object 13"/>
          <p:cNvSpPr/>
          <p:nvPr/>
        </p:nvSpPr>
        <p:spPr>
          <a:xfrm>
            <a:off x="356618" y="9832710"/>
            <a:ext cx="17358995" cy="9525"/>
          </a:xfrm>
          <a:custGeom>
            <a:avLst/>
            <a:gdLst/>
            <a:ahLst/>
            <a:cxnLst/>
            <a:rect l="l" t="t" r="r" b="b"/>
            <a:pathLst>
              <a:path w="17358995" h="952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6">
            <a:extLst>
              <a:ext uri="{FF2B5EF4-FFF2-40B4-BE49-F238E27FC236}">
                <a16:creationId xmlns:a16="http://schemas.microsoft.com/office/drawing/2014/main" id="{231C5BA1-E335-44F1-A5CE-ECD52632BBA4}"/>
              </a:ext>
            </a:extLst>
          </p:cNvPr>
          <p:cNvGrpSpPr/>
          <p:nvPr/>
        </p:nvGrpSpPr>
        <p:grpSpPr>
          <a:xfrm>
            <a:off x="0" y="1"/>
            <a:ext cx="14630400" cy="948701"/>
            <a:chOff x="0" y="1"/>
            <a:chExt cx="14536419" cy="948701"/>
          </a:xfrm>
        </p:grpSpPr>
        <p:sp>
          <p:nvSpPr>
            <p:cNvPr id="49" name="object 7">
              <a:extLst>
                <a:ext uri="{FF2B5EF4-FFF2-40B4-BE49-F238E27FC236}">
                  <a16:creationId xmlns:a16="http://schemas.microsoft.com/office/drawing/2014/main" id="{D90A4D6E-1A65-4F9C-8913-08CE8CEA61F0}"/>
                </a:ext>
              </a:extLst>
            </p:cNvPr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8">
              <a:extLst>
                <a:ext uri="{FF2B5EF4-FFF2-40B4-BE49-F238E27FC236}">
                  <a16:creationId xmlns:a16="http://schemas.microsoft.com/office/drawing/2014/main" id="{AED79C63-299B-4B3B-A4E9-8369D7DE8DA0}"/>
                </a:ext>
              </a:extLst>
            </p:cNvPr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9">
              <a:extLst>
                <a:ext uri="{FF2B5EF4-FFF2-40B4-BE49-F238E27FC236}">
                  <a16:creationId xmlns:a16="http://schemas.microsoft.com/office/drawing/2014/main" id="{1C14E6C6-999A-4918-AF66-E0FB1D835F0A}"/>
                </a:ext>
              </a:extLst>
            </p:cNvPr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9">
            <a:extLst>
              <a:ext uri="{FF2B5EF4-FFF2-40B4-BE49-F238E27FC236}">
                <a16:creationId xmlns:a16="http://schemas.microsoft.com/office/drawing/2014/main" id="{E3E2A75B-5F6A-435D-A689-F7226625D208}"/>
              </a:ext>
            </a:extLst>
          </p:cNvPr>
          <p:cNvGrpSpPr/>
          <p:nvPr/>
        </p:nvGrpSpPr>
        <p:grpSpPr>
          <a:xfrm>
            <a:off x="609600" y="1544091"/>
            <a:ext cx="846773" cy="686437"/>
            <a:chOff x="989581" y="1692471"/>
            <a:chExt cx="845819" cy="845819"/>
          </a:xfrm>
          <a:solidFill>
            <a:schemeClr val="tx2"/>
          </a:solidFill>
        </p:grpSpPr>
        <p:sp>
          <p:nvSpPr>
            <p:cNvPr id="57" name="object 10">
              <a:extLst>
                <a:ext uri="{FF2B5EF4-FFF2-40B4-BE49-F238E27FC236}">
                  <a16:creationId xmlns:a16="http://schemas.microsoft.com/office/drawing/2014/main" id="{EC22A4F4-75E2-4E04-A9A5-A5A8CC1F8206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1">
              <a:extLst>
                <a:ext uri="{FF2B5EF4-FFF2-40B4-BE49-F238E27FC236}">
                  <a16:creationId xmlns:a16="http://schemas.microsoft.com/office/drawing/2014/main" id="{D714B77B-8F19-48FF-91BB-CD6C92B27F8C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2">
              <a:extLst>
                <a:ext uri="{FF2B5EF4-FFF2-40B4-BE49-F238E27FC236}">
                  <a16:creationId xmlns:a16="http://schemas.microsoft.com/office/drawing/2014/main" id="{3A501381-B4DD-4ABB-AC88-9B521208640B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2">
            <a:extLst>
              <a:ext uri="{FF2B5EF4-FFF2-40B4-BE49-F238E27FC236}">
                <a16:creationId xmlns:a16="http://schemas.microsoft.com/office/drawing/2014/main" id="{68E4D7FA-5BF1-4A26-9D34-B6FBABBF4878}"/>
              </a:ext>
            </a:extLst>
          </p:cNvPr>
          <p:cNvSpPr txBox="1"/>
          <p:nvPr/>
        </p:nvSpPr>
        <p:spPr>
          <a:xfrm>
            <a:off x="1754742" y="2347423"/>
            <a:ext cx="5901393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500" b="1" spc="-10" dirty="0">
                <a:solidFill>
                  <a:srgbClr val="262626"/>
                </a:solidFill>
                <a:latin typeface="Arial MT"/>
                <a:cs typeface="Arial MT"/>
              </a:rPr>
              <a:t>AI-Powered Patient Health Assistance</a:t>
            </a:r>
            <a:endParaRPr sz="2500" b="1" dirty="0">
              <a:latin typeface="Arial MT"/>
              <a:cs typeface="Arial MT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98E4BA9-990D-47E8-9694-D4AF3217A6FC}"/>
              </a:ext>
            </a:extLst>
          </p:cNvPr>
          <p:cNvSpPr/>
          <p:nvPr/>
        </p:nvSpPr>
        <p:spPr>
          <a:xfrm>
            <a:off x="396949" y="3372190"/>
            <a:ext cx="2433084" cy="2156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Patient Profile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Account setup and personal health information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1106CE9A-8501-42E7-9A7B-25F911B44B30}"/>
              </a:ext>
            </a:extLst>
          </p:cNvPr>
          <p:cNvSpPr/>
          <p:nvPr/>
        </p:nvSpPr>
        <p:spPr>
          <a:xfrm>
            <a:off x="3258154" y="3346292"/>
            <a:ext cx="2433084" cy="21821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Add Symptoms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Input, save, update, or delete symptom entries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47620C2-15BC-4F76-8DD3-2679B5F838F2}"/>
              </a:ext>
            </a:extLst>
          </p:cNvPr>
          <p:cNvSpPr/>
          <p:nvPr/>
        </p:nvSpPr>
        <p:spPr>
          <a:xfrm>
            <a:off x="6085689" y="3346292"/>
            <a:ext cx="2433084" cy="21821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Disease Prediction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AI ranks possible conditions with probability scores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7B45504-012C-40A3-9B3C-8478E2DC205D}"/>
              </a:ext>
            </a:extLst>
          </p:cNvPr>
          <p:cNvSpPr/>
          <p:nvPr/>
        </p:nvSpPr>
        <p:spPr>
          <a:xfrm>
            <a:off x="6314037" y="5956978"/>
            <a:ext cx="2433084" cy="2156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Risk Assessment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Health-risk indicator evaluation and results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3F62577-9ADA-461D-9095-7A30DF93F54E}"/>
              </a:ext>
            </a:extLst>
          </p:cNvPr>
          <p:cNvSpPr/>
          <p:nvPr/>
        </p:nvSpPr>
        <p:spPr>
          <a:xfrm>
            <a:off x="3153077" y="5956978"/>
            <a:ext cx="2643238" cy="2156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Recommendations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Disease-specific precautions from recommendation dataset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D4EBE64-B06C-4440-B417-EBC3E95E6548}"/>
              </a:ext>
            </a:extLst>
          </p:cNvPr>
          <p:cNvSpPr/>
          <p:nvPr/>
        </p:nvSpPr>
        <p:spPr>
          <a:xfrm>
            <a:off x="237860" y="6001703"/>
            <a:ext cx="2433084" cy="2156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Medical History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Longitudinal record of symptoms, predictions, and assessments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D4A1F3F-D523-4F84-A4D8-42A7D403EBD5}"/>
              </a:ext>
            </a:extLst>
          </p:cNvPr>
          <p:cNvCxnSpPr>
            <a:endCxn id="67" idx="1"/>
          </p:cNvCxnSpPr>
          <p:nvPr/>
        </p:nvCxnSpPr>
        <p:spPr>
          <a:xfrm>
            <a:off x="2670944" y="4437356"/>
            <a:ext cx="5872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7850E4E-D16E-435D-8A0F-BA088FAFF7AA}"/>
              </a:ext>
            </a:extLst>
          </p:cNvPr>
          <p:cNvCxnSpPr/>
          <p:nvPr/>
        </p:nvCxnSpPr>
        <p:spPr>
          <a:xfrm>
            <a:off x="5589379" y="4432925"/>
            <a:ext cx="5872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CCFB080-9496-43C2-9E51-F5B3648E838C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7530579" y="5528421"/>
            <a:ext cx="0" cy="428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B618D69-E699-4898-BEF6-1E60C3DDDB2F}"/>
              </a:ext>
            </a:extLst>
          </p:cNvPr>
          <p:cNvCxnSpPr/>
          <p:nvPr/>
        </p:nvCxnSpPr>
        <p:spPr>
          <a:xfrm>
            <a:off x="5796315" y="7035092"/>
            <a:ext cx="5872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9E98A25-E826-4091-93FC-DA555F5DA67D}"/>
              </a:ext>
            </a:extLst>
          </p:cNvPr>
          <p:cNvCxnSpPr/>
          <p:nvPr/>
        </p:nvCxnSpPr>
        <p:spPr>
          <a:xfrm>
            <a:off x="2536428" y="7082420"/>
            <a:ext cx="5872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Picture 81">
            <a:extLst>
              <a:ext uri="{FF2B5EF4-FFF2-40B4-BE49-F238E27FC236}">
                <a16:creationId xmlns:a16="http://schemas.microsoft.com/office/drawing/2014/main" id="{5A3ADC62-5B7F-4A7A-932A-FBA3A3F456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251215" y="1165108"/>
            <a:ext cx="8427184" cy="39783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7E8F342D-103A-4B62-867F-C32A25579F9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365371" y="5613649"/>
            <a:ext cx="8313028" cy="400431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2DC58DAF-9C6E-49D3-B454-F16391BFA76A}"/>
              </a:ext>
            </a:extLst>
          </p:cNvPr>
          <p:cNvSpPr/>
          <p:nvPr/>
        </p:nvSpPr>
        <p:spPr>
          <a:xfrm>
            <a:off x="2830033" y="8724900"/>
            <a:ext cx="3346556" cy="6095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/>
              <a:t>Patient Workflow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667332C-3E31-4870-A590-F453AF3D8644}"/>
              </a:ext>
            </a:extLst>
          </p:cNvPr>
          <p:cNvCxnSpPr>
            <a:cxnSpLocks/>
          </p:cNvCxnSpPr>
          <p:nvPr/>
        </p:nvCxnSpPr>
        <p:spPr>
          <a:xfrm>
            <a:off x="2296530" y="3022445"/>
            <a:ext cx="3359630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444615" y="1160797"/>
            <a:ext cx="13679839" cy="707223"/>
          </a:xfrm>
          <a:prstGeom prst="rect">
            <a:avLst/>
          </a:prstGeom>
        </p:spPr>
        <p:txBody>
          <a:bodyPr vert="horz" wrap="square" lIns="0" tIns="90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000" spc="-10" dirty="0"/>
              <a:t>Caretaker Dashboard</a:t>
            </a:r>
            <a:endParaRPr sz="4000" spc="-10" dirty="0"/>
          </a:p>
        </p:txBody>
      </p:sp>
      <p:sp>
        <p:nvSpPr>
          <p:cNvPr id="13" name="object 13"/>
          <p:cNvSpPr/>
          <p:nvPr/>
        </p:nvSpPr>
        <p:spPr>
          <a:xfrm>
            <a:off x="396949" y="9867900"/>
            <a:ext cx="17358995" cy="9525"/>
          </a:xfrm>
          <a:custGeom>
            <a:avLst/>
            <a:gdLst/>
            <a:ahLst/>
            <a:cxnLst/>
            <a:rect l="l" t="t" r="r" b="b"/>
            <a:pathLst>
              <a:path w="17358995" h="952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6949" y="2400154"/>
            <a:ext cx="126536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600" b="1" spc="-40" dirty="0">
                <a:solidFill>
                  <a:srgbClr val="262626"/>
                </a:solidFill>
                <a:latin typeface="Arial"/>
                <a:cs typeface="Arial"/>
              </a:rPr>
              <a:t>Assigned Patients Monitoring &amp; Role-Based Access</a:t>
            </a:r>
            <a:endParaRPr sz="2600" dirty="0">
              <a:latin typeface="Arial"/>
              <a:cs typeface="Arial"/>
            </a:endParaRPr>
          </a:p>
        </p:txBody>
      </p:sp>
      <p:grpSp>
        <p:nvGrpSpPr>
          <p:cNvPr id="21" name="object 6">
            <a:extLst>
              <a:ext uri="{FF2B5EF4-FFF2-40B4-BE49-F238E27FC236}">
                <a16:creationId xmlns:a16="http://schemas.microsoft.com/office/drawing/2014/main" id="{AC0AB2AE-B0B5-4F7A-9C08-5DE24DA85B13}"/>
              </a:ext>
            </a:extLst>
          </p:cNvPr>
          <p:cNvGrpSpPr/>
          <p:nvPr/>
        </p:nvGrpSpPr>
        <p:grpSpPr>
          <a:xfrm>
            <a:off x="0" y="1"/>
            <a:ext cx="14630400" cy="948690"/>
            <a:chOff x="0" y="1"/>
            <a:chExt cx="14536419" cy="948690"/>
          </a:xfrm>
        </p:grpSpPr>
        <p:sp>
          <p:nvSpPr>
            <p:cNvPr id="22" name="object 7">
              <a:extLst>
                <a:ext uri="{FF2B5EF4-FFF2-40B4-BE49-F238E27FC236}">
                  <a16:creationId xmlns:a16="http://schemas.microsoft.com/office/drawing/2014/main" id="{58FC4653-D6D4-49B5-99A1-765C426EAE23}"/>
                </a:ext>
              </a:extLst>
            </p:cNvPr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8">
              <a:extLst>
                <a:ext uri="{FF2B5EF4-FFF2-40B4-BE49-F238E27FC236}">
                  <a16:creationId xmlns:a16="http://schemas.microsoft.com/office/drawing/2014/main" id="{5EB94537-3537-4234-B4D5-41E02BAC64CA}"/>
                </a:ext>
              </a:extLst>
            </p:cNvPr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9">
              <a:extLst>
                <a:ext uri="{FF2B5EF4-FFF2-40B4-BE49-F238E27FC236}">
                  <a16:creationId xmlns:a16="http://schemas.microsoft.com/office/drawing/2014/main" id="{1DA5E92F-A158-4F36-BEB9-08C1B641980F}"/>
                </a:ext>
              </a:extLst>
            </p:cNvPr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9">
            <a:extLst>
              <a:ext uri="{FF2B5EF4-FFF2-40B4-BE49-F238E27FC236}">
                <a16:creationId xmlns:a16="http://schemas.microsoft.com/office/drawing/2014/main" id="{6A02A1FA-5A48-4D0D-9007-03BBE00F68D9}"/>
              </a:ext>
            </a:extLst>
          </p:cNvPr>
          <p:cNvGrpSpPr/>
          <p:nvPr/>
        </p:nvGrpSpPr>
        <p:grpSpPr>
          <a:xfrm>
            <a:off x="420276" y="1275774"/>
            <a:ext cx="846773" cy="686608"/>
            <a:chOff x="989571" y="1692471"/>
            <a:chExt cx="845819" cy="846030"/>
          </a:xfrm>
          <a:solidFill>
            <a:schemeClr val="tx2"/>
          </a:solidFill>
        </p:grpSpPr>
        <p:sp>
          <p:nvSpPr>
            <p:cNvPr id="30" name="object 10">
              <a:extLst>
                <a:ext uri="{FF2B5EF4-FFF2-40B4-BE49-F238E27FC236}">
                  <a16:creationId xmlns:a16="http://schemas.microsoft.com/office/drawing/2014/main" id="{7F7EC47F-9055-46C7-AB88-86CF8AAF0974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1">
              <a:extLst>
                <a:ext uri="{FF2B5EF4-FFF2-40B4-BE49-F238E27FC236}">
                  <a16:creationId xmlns:a16="http://schemas.microsoft.com/office/drawing/2014/main" id="{543A68D4-EAC5-4464-8FCA-73E5296AA941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2">
              <a:extLst>
                <a:ext uri="{FF2B5EF4-FFF2-40B4-BE49-F238E27FC236}">
                  <a16:creationId xmlns:a16="http://schemas.microsoft.com/office/drawing/2014/main" id="{41B5E1EF-EADC-4443-A2FF-5975167EF048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1715B94-1C1D-4E3F-9E2E-0141C1EE8F04}"/>
              </a:ext>
            </a:extLst>
          </p:cNvPr>
          <p:cNvSpPr/>
          <p:nvPr/>
        </p:nvSpPr>
        <p:spPr>
          <a:xfrm>
            <a:off x="396949" y="3372190"/>
            <a:ext cx="2433084" cy="2156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Caretaker Login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Authenticated access via role-based credentials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11A97D2-7F4A-454A-AB83-C95503A2B900}"/>
              </a:ext>
            </a:extLst>
          </p:cNvPr>
          <p:cNvSpPr/>
          <p:nvPr/>
        </p:nvSpPr>
        <p:spPr>
          <a:xfrm>
            <a:off x="3124200" y="3360527"/>
            <a:ext cx="2433084" cy="2156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Assigned Patients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List of patients assigned to the caretaker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F6113F2-AC89-4635-AAA7-0C271DB98752}"/>
              </a:ext>
            </a:extLst>
          </p:cNvPr>
          <p:cNvSpPr/>
          <p:nvPr/>
        </p:nvSpPr>
        <p:spPr>
          <a:xfrm>
            <a:off x="5851451" y="3331692"/>
            <a:ext cx="2433084" cy="2156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u="sng" dirty="0">
                <a:solidFill>
                  <a:schemeClr val="tx1"/>
                </a:solidFill>
              </a:rPr>
              <a:t>Select Patient</a:t>
            </a:r>
          </a:p>
          <a:p>
            <a:pPr algn="ctr"/>
            <a:r>
              <a:rPr lang="en-IN" sz="2200" dirty="0">
                <a:solidFill>
                  <a:schemeClr val="tx1"/>
                </a:solidFill>
              </a:rPr>
              <a:t>Navigate to individual patient record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C8E6641-0E95-45C1-B9BB-C54D7B1F2DD1}"/>
              </a:ext>
            </a:extLst>
          </p:cNvPr>
          <p:cNvSpPr/>
          <p:nvPr/>
        </p:nvSpPr>
        <p:spPr>
          <a:xfrm>
            <a:off x="396949" y="6015929"/>
            <a:ext cx="2433084" cy="2156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View Patient Details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Profile, contact information, and health information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70ECFA9-392A-405E-8467-5EC4ADCFB564}"/>
              </a:ext>
            </a:extLst>
          </p:cNvPr>
          <p:cNvSpPr/>
          <p:nvPr/>
        </p:nvSpPr>
        <p:spPr>
          <a:xfrm>
            <a:off x="3124200" y="6029892"/>
            <a:ext cx="2433084" cy="2156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Review Health Information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Symptoms, predictions, risk assessments, and reports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35590A2-8D36-44F1-82E6-2B4BED08C733}"/>
              </a:ext>
            </a:extLst>
          </p:cNvPr>
          <p:cNvSpPr/>
          <p:nvPr/>
        </p:nvSpPr>
        <p:spPr>
          <a:xfrm>
            <a:off x="5851451" y="5989393"/>
            <a:ext cx="2433084" cy="21562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u="sng" dirty="0">
                <a:solidFill>
                  <a:schemeClr val="tx1"/>
                </a:solidFill>
              </a:rPr>
              <a:t>Monitor Patient History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Longitudinal health records and medical report access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BEFD7D-48A6-449F-A055-1F867E6C6184}"/>
              </a:ext>
            </a:extLst>
          </p:cNvPr>
          <p:cNvSpPr/>
          <p:nvPr/>
        </p:nvSpPr>
        <p:spPr>
          <a:xfrm>
            <a:off x="2830032" y="8724900"/>
            <a:ext cx="3646967" cy="673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/>
              <a:t>Caretaker Workflow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F297360-752C-46D4-8312-08EA653ADD38}"/>
              </a:ext>
            </a:extLst>
          </p:cNvPr>
          <p:cNvCxnSpPr/>
          <p:nvPr/>
        </p:nvCxnSpPr>
        <p:spPr>
          <a:xfrm>
            <a:off x="2670944" y="4437356"/>
            <a:ext cx="5872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10AA681-15AB-4D35-9672-B828D9816D7B}"/>
              </a:ext>
            </a:extLst>
          </p:cNvPr>
          <p:cNvCxnSpPr/>
          <p:nvPr/>
        </p:nvCxnSpPr>
        <p:spPr>
          <a:xfrm>
            <a:off x="5362555" y="4423421"/>
            <a:ext cx="5872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47240E6-3C7C-49C0-8573-8C613F0F44FD}"/>
              </a:ext>
            </a:extLst>
          </p:cNvPr>
          <p:cNvCxnSpPr/>
          <p:nvPr/>
        </p:nvCxnSpPr>
        <p:spPr>
          <a:xfrm>
            <a:off x="2783221" y="7067507"/>
            <a:ext cx="5872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5F7E1B6-8A82-42B5-B5A5-4019798C10C9}"/>
              </a:ext>
            </a:extLst>
          </p:cNvPr>
          <p:cNvCxnSpPr/>
          <p:nvPr/>
        </p:nvCxnSpPr>
        <p:spPr>
          <a:xfrm>
            <a:off x="5463098" y="7094043"/>
            <a:ext cx="5872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00BE55D-7A05-4991-858E-56BE3E7DF24A}"/>
              </a:ext>
            </a:extLst>
          </p:cNvPr>
          <p:cNvCxnSpPr>
            <a:cxnSpLocks/>
            <a:stCxn id="37" idx="2"/>
            <a:endCxn id="40" idx="0"/>
          </p:cNvCxnSpPr>
          <p:nvPr/>
        </p:nvCxnSpPr>
        <p:spPr>
          <a:xfrm>
            <a:off x="7067993" y="5487923"/>
            <a:ext cx="0" cy="501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F321A92-9484-40BA-8647-D103A3694883}"/>
              </a:ext>
            </a:extLst>
          </p:cNvPr>
          <p:cNvCxnSpPr>
            <a:cxnSpLocks/>
          </p:cNvCxnSpPr>
          <p:nvPr/>
        </p:nvCxnSpPr>
        <p:spPr>
          <a:xfrm>
            <a:off x="2296530" y="3022445"/>
            <a:ext cx="3359630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54597798-1639-44DB-ABC5-FEE40A415D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01077" y="2264185"/>
            <a:ext cx="7918469" cy="586822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4E4120E2-A85A-4287-80A4-D308EFE6688E}"/>
              </a:ext>
            </a:extLst>
          </p:cNvPr>
          <p:cNvGrpSpPr/>
          <p:nvPr/>
        </p:nvGrpSpPr>
        <p:grpSpPr>
          <a:xfrm>
            <a:off x="0" y="1"/>
            <a:ext cx="14630400" cy="948690"/>
            <a:chOff x="0" y="1"/>
            <a:chExt cx="14536419" cy="948690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F164D05B-AF89-4A2E-B7D8-76E1F0F83BFB}"/>
                </a:ext>
              </a:extLst>
            </p:cNvPr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F12DF823-2B8F-42DB-A1F5-5BF1A11554E4}"/>
                </a:ext>
              </a:extLst>
            </p:cNvPr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9D21E449-2A2E-40AB-89CC-6455A5A8CDF2}"/>
                </a:ext>
              </a:extLst>
            </p:cNvPr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13">
            <a:extLst>
              <a:ext uri="{FF2B5EF4-FFF2-40B4-BE49-F238E27FC236}">
                <a16:creationId xmlns:a16="http://schemas.microsoft.com/office/drawing/2014/main" id="{D24F0590-3541-4BD3-B880-5FD9DD10F94F}"/>
              </a:ext>
            </a:extLst>
          </p:cNvPr>
          <p:cNvSpPr/>
          <p:nvPr/>
        </p:nvSpPr>
        <p:spPr>
          <a:xfrm>
            <a:off x="396949" y="9822280"/>
            <a:ext cx="17358995" cy="9525"/>
          </a:xfrm>
          <a:custGeom>
            <a:avLst/>
            <a:gdLst/>
            <a:ahLst/>
            <a:cxnLst/>
            <a:rect l="l" t="t" r="r" b="b"/>
            <a:pathLst>
              <a:path w="17358995" h="952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 descr="$PPTXTitle">
            <a:extLst>
              <a:ext uri="{FF2B5EF4-FFF2-40B4-BE49-F238E27FC236}">
                <a16:creationId xmlns:a16="http://schemas.microsoft.com/office/drawing/2014/main" id="{85B731A1-FF70-40C6-A70E-675BFAFDBA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2642" y="1379625"/>
            <a:ext cx="1192466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000" spc="-360" dirty="0"/>
              <a:t>Database &amp; System Integration</a:t>
            </a:r>
            <a:endParaRPr sz="4000" spc="-60" dirty="0"/>
          </a:p>
        </p:txBody>
      </p:sp>
      <p:grpSp>
        <p:nvGrpSpPr>
          <p:cNvPr id="10" name="object 9">
            <a:extLst>
              <a:ext uri="{FF2B5EF4-FFF2-40B4-BE49-F238E27FC236}">
                <a16:creationId xmlns:a16="http://schemas.microsoft.com/office/drawing/2014/main" id="{7F9A04B0-966B-4763-B132-58D39CE25844}"/>
              </a:ext>
            </a:extLst>
          </p:cNvPr>
          <p:cNvGrpSpPr/>
          <p:nvPr/>
        </p:nvGrpSpPr>
        <p:grpSpPr>
          <a:xfrm>
            <a:off x="420276" y="1275774"/>
            <a:ext cx="846773" cy="686608"/>
            <a:chOff x="989571" y="1692471"/>
            <a:chExt cx="845819" cy="846030"/>
          </a:xfrm>
          <a:solidFill>
            <a:schemeClr val="tx2"/>
          </a:solidFill>
        </p:grpSpPr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AE23AE6B-BF0E-4155-A6D5-73858A305E50}"/>
                </a:ext>
              </a:extLst>
            </p:cNvPr>
            <p:cNvSpPr/>
            <p:nvPr/>
          </p:nvSpPr>
          <p:spPr>
            <a:xfrm>
              <a:off x="989582" y="1692471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2886AEBF-B99E-4507-AFA3-CED031CFBF90}"/>
                </a:ext>
              </a:extLst>
            </p:cNvPr>
            <p:cNvSpPr/>
            <p:nvPr/>
          </p:nvSpPr>
          <p:spPr>
            <a:xfrm>
              <a:off x="128782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24E94FE7-F628-48D8-B38C-8EDB4BC6B88F}"/>
                </a:ext>
              </a:extLst>
            </p:cNvPr>
            <p:cNvSpPr/>
            <p:nvPr/>
          </p:nvSpPr>
          <p:spPr>
            <a:xfrm>
              <a:off x="989571" y="1843176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53" y="518782"/>
                  </a:moveTo>
                  <a:lnTo>
                    <a:pt x="839546" y="473151"/>
                  </a:lnTo>
                  <a:lnTo>
                    <a:pt x="821931" y="430618"/>
                  </a:lnTo>
                  <a:lnTo>
                    <a:pt x="793902" y="394106"/>
                  </a:lnTo>
                  <a:lnTo>
                    <a:pt x="399796" y="0"/>
                  </a:lnTo>
                  <a:lnTo>
                    <a:pt x="150710" y="249085"/>
                  </a:lnTo>
                  <a:lnTo>
                    <a:pt x="173685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82" y="676656"/>
                  </a:lnTo>
                  <a:lnTo>
                    <a:pt x="141668" y="691451"/>
                  </a:lnTo>
                  <a:lnTo>
                    <a:pt x="176060" y="694842"/>
                  </a:lnTo>
                  <a:lnTo>
                    <a:pt x="187604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57"/>
                  </a:lnTo>
                  <a:lnTo>
                    <a:pt x="544817" y="643191"/>
                  </a:lnTo>
                  <a:lnTo>
                    <a:pt x="581329" y="671220"/>
                  </a:lnTo>
                  <a:lnTo>
                    <a:pt x="623862" y="688835"/>
                  </a:lnTo>
                  <a:lnTo>
                    <a:pt x="669493" y="694842"/>
                  </a:lnTo>
                  <a:lnTo>
                    <a:pt x="681037" y="694474"/>
                  </a:lnTo>
                  <a:lnTo>
                    <a:pt x="726186" y="685482"/>
                  </a:lnTo>
                  <a:lnTo>
                    <a:pt x="767461" y="665124"/>
                  </a:lnTo>
                  <a:lnTo>
                    <a:pt x="801852" y="634987"/>
                  </a:lnTo>
                  <a:lnTo>
                    <a:pt x="827366" y="596773"/>
                  </a:lnTo>
                  <a:lnTo>
                    <a:pt x="842162" y="553186"/>
                  </a:lnTo>
                  <a:lnTo>
                    <a:pt x="845172" y="530326"/>
                  </a:lnTo>
                  <a:lnTo>
                    <a:pt x="845553" y="51878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970DE1E7-C3EB-4CC9-A638-72F21C66B6A6}"/>
              </a:ext>
            </a:extLst>
          </p:cNvPr>
          <p:cNvSpPr txBox="1"/>
          <p:nvPr/>
        </p:nvSpPr>
        <p:spPr>
          <a:xfrm>
            <a:off x="900099" y="2364817"/>
            <a:ext cx="126536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600" b="1" spc="-40" dirty="0">
                <a:solidFill>
                  <a:srgbClr val="262626"/>
                </a:solidFill>
                <a:latin typeface="Arial"/>
                <a:cs typeface="Arial"/>
              </a:rPr>
              <a:t>Data Storage – PostgreSQL Shema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346C8C-4E2A-4170-BDA0-F362381CEAE4}"/>
              </a:ext>
            </a:extLst>
          </p:cNvPr>
          <p:cNvSpPr/>
          <p:nvPr/>
        </p:nvSpPr>
        <p:spPr>
          <a:xfrm>
            <a:off x="809099" y="3021693"/>
            <a:ext cx="5411544" cy="64481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u="sng" dirty="0"/>
              <a:t>User &amp; Access Data</a:t>
            </a:r>
            <a:endParaRPr lang="en-US" sz="25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Users and authentication credentials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Patient profiles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Caretaker profiles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Patient–caretaker assignment records</a:t>
            </a:r>
          </a:p>
          <a:p>
            <a:pPr algn="ctr"/>
            <a:r>
              <a:rPr lang="en-US" sz="2500" b="1" u="sng" dirty="0"/>
              <a:t>Health Data</a:t>
            </a:r>
            <a:endParaRPr lang="en-US" sz="25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Symptoms and severity scores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Disease prediction results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Risk assessment outputs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Medical history records</a:t>
            </a:r>
          </a:p>
          <a:p>
            <a:pPr algn="ctr"/>
            <a:r>
              <a:rPr lang="en-US" sz="2500" b="1" u="sng" dirty="0"/>
              <a:t>Report Data</a:t>
            </a:r>
            <a:endParaRPr lang="en-US" sz="25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Medical report metadata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File information and storage references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Patient ownership and access linkage</a:t>
            </a:r>
          </a:p>
          <a:p>
            <a:pPr algn="ctr"/>
            <a:endParaRPr lang="en-IN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96C5E9-9047-4C9E-8D46-1BB5C83C2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501946"/>
            <a:ext cx="9706501" cy="526102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777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9676D1-5EE0-4B15-97B8-C79CF4E81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44"/>
            <a:ext cx="18288000" cy="1029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10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1439</TotalTime>
  <Words>363</Words>
  <Application>Microsoft Office PowerPoint</Application>
  <PresentationFormat>Custom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MT</vt:lpstr>
      <vt:lpstr>Calibri</vt:lpstr>
      <vt:lpstr>Office Theme</vt:lpstr>
      <vt:lpstr>MedAssist  AI 🏥AI-Powered Healthcare Assistance Platform</vt:lpstr>
      <vt:lpstr>Milestone 2 Deliverables</vt:lpstr>
      <vt:lpstr>AI Model Development</vt:lpstr>
      <vt:lpstr>Patient Dashboard</vt:lpstr>
      <vt:lpstr>Caretaker Dashboard</vt:lpstr>
      <vt:lpstr>Database &amp; System Integration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MedAssist  AI 🏥AI-Powered Healthcare Assistance Platform</dc:title>
  <cp:lastModifiedBy>20A91A0524</cp:lastModifiedBy>
  <cp:revision>2</cp:revision>
  <dcterms:created xsi:type="dcterms:W3CDTF">2026-08-13T12:12:40Z</dcterms:created>
  <dcterms:modified xsi:type="dcterms:W3CDTF">2026-08-14T12:12:32Z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2026-08-13T00:00:00Z</vt:filetime>
  </property>
  <property fmtid="{D5CDD505-2E9C-101B-9397-08002B2CF9AE}" pid="4" name="CreationClient">
    <vt:lpwstr>outline-to-presentation-weave</vt:lpwstr>
  </property>
  <property fmtid="{D5CDD505-2E9C-101B-9397-08002B2CF9AE}" pid="5" name="Creator">
    <vt:lpwstr>Adobe Express</vt:lpwstr>
  </property>
  <property fmtid="{D5CDD505-2E9C-101B-9397-08002B2CF9AE}" pid="6" name="LastSaved">
    <vt:filetime>2026-08-13T00:00:00Z</vt:filetime>
  </property>
  <property fmtid="{D5CDD505-2E9C-101B-9397-08002B2CF9AE}" pid="7" name="Producer">
    <vt:lpwstr>Adobe Express</vt:lpwstr>
  </property>
</Properties>
</file>