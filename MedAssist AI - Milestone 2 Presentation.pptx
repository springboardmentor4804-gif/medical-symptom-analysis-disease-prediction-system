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74320"/>
            <a:ext cx="25603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2D5BEB"/>
                </a:solidFill>
                <a:latin typeface="Aptos"/>
              </a:rPr>
              <a:t>MEDASSIST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33272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2500" b="1">
                <a:solidFill>
                  <a:srgbClr val="0A192F"/>
                </a:solidFill>
                <a:latin typeface="Aptos"/>
              </a:rPr>
              <a:t>AI-assisted healthcare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28700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0">
                <a:solidFill>
                  <a:srgbClr val="687991"/>
                </a:solidFill>
                <a:latin typeface="Aptos"/>
              </a:rPr>
              <a:t>A single workflow connecting patient symptoms, AI predictions, severity assessment, reporting, and clinical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56692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/>
            <a:r>
              <a:rPr sz="950" b="1">
                <a:solidFill>
                  <a:srgbClr val="687991"/>
                </a:solidFill>
                <a:latin typeface="Aptos"/>
              </a:rPr>
              <a:t>01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10899648" cy="10972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1572768" cy="274320"/>
          </a:xfrm>
          <a:prstGeom prst="roundRect">
            <a:avLst/>
          </a:prstGeom>
          <a:solidFill>
            <a:srgbClr val="F1F7FF"/>
          </a:solidFill>
          <a:ln w="8890">
            <a:solidFill>
              <a:srgbClr val="F1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623060"/>
            <a:ext cx="1389888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19" b="1">
                <a:solidFill>
                  <a:srgbClr val="2D5BEB"/>
                </a:solidFill>
                <a:latin typeface="Aptos"/>
              </a:rPr>
              <a:t>SYSTEM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794760" cy="8412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Turn patient information into structured, reviewable clinical insights.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44368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30">
                <a:solidFill>
                  <a:srgbClr val="1D2B3F"/>
                </a:solidFill>
                <a:latin typeface="Aptos"/>
              </a:defRPr>
            </a:pPr>
            <a:r>
              <a:t>• Symptom-based disease classification</a:t>
            </a:r>
          </a:p>
          <a:p>
            <a:pPr>
              <a:spcAft>
                <a:spcPts val="700"/>
              </a:spcAft>
              <a:defRPr sz="1330">
                <a:solidFill>
                  <a:srgbClr val="1D2B3F"/>
                </a:solidFill>
                <a:latin typeface="Aptos"/>
              </a:defRPr>
            </a:pPr>
            <a:r>
              <a:t>• Severity risk assessment</a:t>
            </a:r>
          </a:p>
          <a:p>
            <a:pPr>
              <a:spcAft>
                <a:spcPts val="700"/>
              </a:spcAft>
              <a:defRPr sz="1330">
                <a:solidFill>
                  <a:srgbClr val="1D2B3F"/>
                </a:solidFill>
                <a:latin typeface="Aptos"/>
              </a:defRPr>
            </a:pPr>
            <a:r>
              <a:t>• Diagnostic history and reporting</a:t>
            </a:r>
          </a:p>
          <a:p>
            <a:pPr>
              <a:spcAft>
                <a:spcPts val="700"/>
              </a:spcAft>
              <a:defRPr sz="1330">
                <a:solidFill>
                  <a:srgbClr val="1D2B3F"/>
                </a:solidFill>
                <a:latin typeface="Aptos"/>
              </a:defRPr>
            </a:pPr>
            <a:r>
              <a:t>• Doctor-side review and verification</a:t>
            </a:r>
          </a:p>
          <a:p>
            <a:pPr>
              <a:spcAft>
                <a:spcPts val="700"/>
              </a:spcAft>
              <a:defRPr sz="1330">
                <a:solidFill>
                  <a:srgbClr val="1D2B3F"/>
                </a:solidFill>
                <a:latin typeface="Aptos"/>
              </a:defRPr>
            </a:pPr>
            <a:r>
              <a:t>• Persistent patient / doctor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85232"/>
            <a:ext cx="1115568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5394960"/>
            <a:ext cx="3200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2D5BE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650992"/>
            <a:ext cx="9144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Patient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5285232"/>
            <a:ext cx="1115568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57400" y="5394960"/>
            <a:ext cx="3200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2D5BEB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650992"/>
            <a:ext cx="9144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AI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3552" y="5285232"/>
            <a:ext cx="1115568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5394960"/>
            <a:ext cx="32004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2D5BE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5650992"/>
            <a:ext cx="9144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Clinical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572768"/>
            <a:ext cx="6903720" cy="44622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octor patient unifie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29" y="1787652"/>
            <a:ext cx="6685542" cy="31797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74320"/>
            <a:ext cx="25603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2D5BEB"/>
                </a:solidFill>
                <a:latin typeface="Aptos"/>
              </a:rPr>
              <a:t>01 •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33272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2500" b="1">
                <a:solidFill>
                  <a:srgbClr val="0A192F"/>
                </a:solidFill>
                <a:latin typeface="Aptos"/>
              </a:rPr>
              <a:t>AI symptom analysis → disease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28700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0">
                <a:solidFill>
                  <a:srgbClr val="687991"/>
                </a:solidFill>
                <a:latin typeface="Aptos"/>
              </a:rPr>
              <a:t>The system evaluates patient information and presents a primary classification with alternatives and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56692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/>
            <a:r>
              <a:rPr sz="950" b="1">
                <a:solidFill>
                  <a:srgbClr val="687991"/>
                </a:solidFill>
                <a:latin typeface="Aptos"/>
              </a:rPr>
              <a:t>02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10899648" cy="10972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7360920" cy="44988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ymptom analysi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41737"/>
            <a:ext cx="7360920" cy="39609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572768"/>
            <a:ext cx="3273552" cy="4498848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40496" y="1847088"/>
            <a:ext cx="786384" cy="274320"/>
          </a:xfrm>
          <a:prstGeom prst="roundRect">
            <a:avLst/>
          </a:prstGeom>
          <a:solidFill>
            <a:srgbClr val="F1F7FF"/>
          </a:solidFill>
          <a:ln w="8890">
            <a:solidFill>
              <a:srgbClr val="F1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31936" y="1897380"/>
            <a:ext cx="603503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19" b="1">
                <a:solidFill>
                  <a:srgbClr val="2D5BEB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58568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D2B3F"/>
                </a:solidFill>
                <a:latin typeface="Aptos"/>
              </a:defRPr>
            </a:pPr>
            <a:r>
              <a:t>• Patient demographics</a:t>
            </a:r>
          </a:p>
          <a:p>
            <a:pPr>
              <a:spcAft>
                <a:spcPts val="400"/>
              </a:spcAft>
              <a:defRPr sz="1150">
                <a:solidFill>
                  <a:srgbClr val="1D2B3F"/>
                </a:solidFill>
                <a:latin typeface="Aptos"/>
              </a:defRPr>
            </a:pPr>
            <a:r>
              <a:t>• Symptoms</a:t>
            </a:r>
          </a:p>
          <a:p>
            <a:pPr>
              <a:spcAft>
                <a:spcPts val="400"/>
              </a:spcAft>
              <a:defRPr sz="1150">
                <a:solidFill>
                  <a:srgbClr val="1D2B3F"/>
                </a:solidFill>
                <a:latin typeface="Aptos"/>
              </a:defRPr>
            </a:pPr>
            <a:r>
              <a:t>• Medical attributes</a:t>
            </a:r>
          </a:p>
          <a:p>
            <a:pPr>
              <a:spcAft>
                <a:spcPts val="400"/>
              </a:spcAft>
              <a:defRPr sz="1150">
                <a:solidFill>
                  <a:srgbClr val="1D2B3F"/>
                </a:solidFill>
                <a:latin typeface="Aptos"/>
              </a:defRPr>
            </a:pPr>
            <a:r>
              <a:t>• Duration / factors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3584448"/>
            <a:ext cx="2715768" cy="10972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40496" y="3822191"/>
            <a:ext cx="1188720" cy="274320"/>
          </a:xfrm>
          <a:prstGeom prst="roundRect">
            <a:avLst/>
          </a:prstGeom>
          <a:solidFill>
            <a:srgbClr val="F1F7FF"/>
          </a:solidFill>
          <a:ln w="8890">
            <a:solidFill>
              <a:srgbClr val="F1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31936" y="3872483"/>
            <a:ext cx="100584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19" b="1">
                <a:solidFill>
                  <a:srgbClr val="2D5BEB"/>
                </a:solidFill>
                <a:latin typeface="Aptos"/>
              </a:rPr>
              <a:t>MODEL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251960"/>
            <a:ext cx="237744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>
                <a:solidFill>
                  <a:srgbClr val="0A192F"/>
                </a:solidFill>
                <a:latin typeface="Aptos"/>
              </a:rPr>
              <a:t>Primary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626864"/>
            <a:ext cx="237744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>
                <a:solidFill>
                  <a:srgbClr val="0A192F"/>
                </a:solidFill>
                <a:latin typeface="Aptos"/>
              </a:rPr>
              <a:t>Alternative classifications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001768"/>
            <a:ext cx="237744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>
                <a:solidFill>
                  <a:srgbClr val="0A192F"/>
                </a:solidFill>
                <a:latin typeface="Aptos"/>
              </a:rPr>
              <a:t>Confidence / probability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5458968"/>
            <a:ext cx="2487168" cy="4114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30" b="0">
                <a:solidFill>
                  <a:srgbClr val="687991"/>
                </a:solidFill>
                <a:latin typeface="Aptos"/>
              </a:rPr>
              <a:t>The interface makes the prediction hierarchy visible rather than presenting a single opaque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74320"/>
            <a:ext cx="25603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2D5BEB"/>
                </a:solidFill>
                <a:latin typeface="Aptos"/>
              </a:rPr>
              <a:t>02 • RISK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33272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2500" b="1">
                <a:solidFill>
                  <a:srgbClr val="0A192F"/>
                </a:solidFill>
                <a:latin typeface="Aptos"/>
              </a:rPr>
              <a:t>Severity analysis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28700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0">
                <a:solidFill>
                  <a:srgbClr val="687991"/>
                </a:solidFill>
                <a:latin typeface="Aptos"/>
              </a:rPr>
              <a:t>Implemented pipeline: encoded patient features → predicted severity score → severity band → recommendation.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56692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/>
            <a:r>
              <a:rPr sz="950" b="1">
                <a:solidFill>
                  <a:srgbClr val="687991"/>
                </a:solidFill>
                <a:latin typeface="Aptos"/>
              </a:rPr>
              <a:t>03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10899648" cy="10972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1554480"/>
            <a:ext cx="8275320" cy="4754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EVERITY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" y="1554480"/>
            <a:ext cx="713232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25128" y="1554480"/>
            <a:ext cx="2523744" cy="4754880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53728" y="1828800"/>
            <a:ext cx="1225296" cy="274320"/>
          </a:xfrm>
          <a:prstGeom prst="roundRect">
            <a:avLst/>
          </a:prstGeom>
          <a:solidFill>
            <a:srgbClr val="F1F7FF"/>
          </a:solidFill>
          <a:ln w="8890">
            <a:solidFill>
              <a:srgbClr val="F1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45167" y="1879092"/>
            <a:ext cx="1042416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19" b="1">
                <a:solidFill>
                  <a:srgbClr val="2D5BEB"/>
                </a:solidFill>
                <a:latin typeface="Aptos"/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313432"/>
            <a:ext cx="54864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1">
                <a:solidFill>
                  <a:srgbClr val="0DA67E"/>
                </a:solidFill>
                <a:latin typeface="Aptos"/>
              </a:rPr>
              <a:t>0–33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3808" y="2313432"/>
            <a:ext cx="73152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00" b="1">
                <a:solidFill>
                  <a:srgbClr val="1D2B3F"/>
                </a:solidFill>
                <a:latin typeface="Aptos"/>
              </a:rPr>
              <a:t>Mild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788920"/>
            <a:ext cx="64008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1">
                <a:solidFill>
                  <a:srgbClr val="EB8E1C"/>
                </a:solidFill>
                <a:latin typeface="Aptos"/>
              </a:rPr>
              <a:t>34–66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8" y="2788920"/>
            <a:ext cx="100584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00" b="1">
                <a:solidFill>
                  <a:srgbClr val="1D2B3F"/>
                </a:solidFill>
                <a:latin typeface="Aptos"/>
              </a:rPr>
              <a:t>Moderate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3264408"/>
            <a:ext cx="713232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1">
                <a:solidFill>
                  <a:srgbClr val="BE4646"/>
                </a:solidFill>
                <a:latin typeface="Aptos"/>
              </a:rPr>
              <a:t>67–100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0112" y="3264408"/>
            <a:ext cx="73152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00" b="1">
                <a:solidFill>
                  <a:srgbClr val="1D2B3F"/>
                </a:solidFill>
                <a:latin typeface="Aptos"/>
              </a:rPr>
              <a:t>Severe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53728" y="3703320"/>
            <a:ext cx="2029968" cy="10972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253728" y="3931920"/>
            <a:ext cx="896112" cy="274320"/>
          </a:xfrm>
          <a:prstGeom prst="roundRect">
            <a:avLst/>
          </a:prstGeom>
          <a:solidFill>
            <a:srgbClr val="F1F7FF"/>
          </a:solidFill>
          <a:ln w="8890">
            <a:solidFill>
              <a:srgbClr val="F1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45167" y="3982211"/>
            <a:ext cx="713232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19" b="1">
                <a:solidFill>
                  <a:srgbClr val="2D5BEB"/>
                </a:solidFill>
                <a:latin typeface="Aptos"/>
              </a:rPr>
              <a:t>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4315968"/>
            <a:ext cx="18745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1D2B3F"/>
                </a:solidFill>
                <a:latin typeface="Aptos"/>
              </a:defRPr>
            </a:pPr>
            <a:r>
              <a:t>• Gender</a:t>
            </a:r>
          </a:p>
          <a:p>
            <a:pPr>
              <a:spcAft>
                <a:spcPts val="300"/>
              </a:spcAft>
              <a:defRPr sz="1019">
                <a:solidFill>
                  <a:srgbClr val="1D2B3F"/>
                </a:solidFill>
                <a:latin typeface="Aptos"/>
              </a:defRPr>
            </a:pPr>
            <a:r>
              <a:t>• Blood pressure</a:t>
            </a:r>
          </a:p>
          <a:p>
            <a:pPr>
              <a:spcAft>
                <a:spcPts val="300"/>
              </a:spcAft>
              <a:defRPr sz="1019">
                <a:solidFill>
                  <a:srgbClr val="1D2B3F"/>
                </a:solidFill>
                <a:latin typeface="Aptos"/>
              </a:defRPr>
            </a:pPr>
            <a:r>
              <a:t>• Cholesterol</a:t>
            </a:r>
          </a:p>
          <a:p>
            <a:pPr>
              <a:spcAft>
                <a:spcPts val="300"/>
              </a:spcAft>
              <a:defRPr sz="1019">
                <a:solidFill>
                  <a:srgbClr val="1D2B3F"/>
                </a:solidFill>
                <a:latin typeface="Aptos"/>
              </a:defRPr>
            </a:pPr>
            <a:r>
              <a:t>• Severity / factors</a:t>
            </a:r>
          </a:p>
          <a:p>
            <a:pPr>
              <a:spcAft>
                <a:spcPts val="300"/>
              </a:spcAft>
              <a:defRPr sz="1019">
                <a:solidFill>
                  <a:srgbClr val="1D2B3F"/>
                </a:solidFill>
                <a:latin typeface="Aptos"/>
              </a:defRPr>
            </a:pPr>
            <a:r>
              <a:t>• Symptom presence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74320"/>
            <a:ext cx="25603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2D5BEB"/>
                </a:solidFill>
                <a:latin typeface="Aptos"/>
              </a:rPr>
              <a:t>03 •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33272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2500" b="1">
                <a:solidFill>
                  <a:srgbClr val="0A192F"/>
                </a:solidFill>
                <a:latin typeface="Aptos"/>
              </a:rPr>
              <a:t>From prediction to reviewable diagnostic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28700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0">
                <a:solidFill>
                  <a:srgbClr val="687991"/>
                </a:solidFill>
                <a:latin typeface="Aptos"/>
              </a:rPr>
              <a:t>Diagnostic reports expose the prediction, confidence, risk index, and review state in a doctor-facing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56692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/>
            <a:r>
              <a:rPr sz="950" b="1">
                <a:solidFill>
                  <a:srgbClr val="687991"/>
                </a:solidFill>
                <a:latin typeface="Aptos"/>
              </a:rPr>
              <a:t>04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10899648" cy="10972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7818120" cy="4507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por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43" y="1801368"/>
            <a:ext cx="7333193" cy="38615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ounded Rectangle 8"/>
          <p:cNvSpPr/>
          <p:nvPr/>
        </p:nvSpPr>
        <p:spPr>
          <a:xfrm>
            <a:off x="8732520" y="1572768"/>
            <a:ext cx="2816352" cy="4507992"/>
          </a:xfrm>
          <a:prstGeom prst="roundRect">
            <a:avLst/>
          </a:prstGeom>
          <a:solidFill>
            <a:srgbClr val="0A192F"/>
          </a:solidFill>
          <a:ln w="889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1874519"/>
            <a:ext cx="224028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40" b="1">
                <a:solidFill>
                  <a:srgbClr val="AEC4E1"/>
                </a:solidFill>
                <a:latin typeface="Aptos"/>
              </a:rPr>
              <a:t>WHAT THE REPORT SURFACES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2331720"/>
            <a:ext cx="27432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40" b="1">
                <a:solidFill>
                  <a:srgbClr val="129DB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322576"/>
            <a:ext cx="178308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Aptos"/>
              </a:rPr>
              <a:t>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560320"/>
            <a:ext cx="17373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80" b="0">
                <a:solidFill>
                  <a:srgbClr val="B7C8DF"/>
                </a:solidFill>
                <a:latin typeface="Aptos"/>
              </a:rPr>
              <a:t>Primary AI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999232"/>
            <a:ext cx="27432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40" b="1">
                <a:solidFill>
                  <a:srgbClr val="129DB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990088"/>
            <a:ext cx="178308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Aptos"/>
              </a:rPr>
              <a:t>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27832"/>
            <a:ext cx="17373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80" b="0">
                <a:solidFill>
                  <a:srgbClr val="B7C8DF"/>
                </a:solidFill>
                <a:latin typeface="Aptos"/>
              </a:rPr>
              <a:t>Prediction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3666744"/>
            <a:ext cx="27432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40" b="1">
                <a:solidFill>
                  <a:srgbClr val="129DB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657600"/>
            <a:ext cx="178308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895344"/>
            <a:ext cx="17373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80" b="0">
                <a:solidFill>
                  <a:srgbClr val="B7C8DF"/>
                </a:solidFill>
                <a:latin typeface="Aptos"/>
              </a:rPr>
              <a:t>Risk level +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4334256"/>
            <a:ext cx="27432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40" b="1">
                <a:solidFill>
                  <a:srgbClr val="129DB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325112"/>
            <a:ext cx="178308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562856"/>
            <a:ext cx="17373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80" b="0">
                <a:solidFill>
                  <a:srgbClr val="B7C8DF"/>
                </a:solidFill>
                <a:latin typeface="Aptos"/>
              </a:rPr>
              <a:t>Pending / verified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5001768"/>
            <a:ext cx="27432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40" b="1">
                <a:solidFill>
                  <a:srgbClr val="129DB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992624"/>
            <a:ext cx="178308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Aptos"/>
              </a:rPr>
              <a:t>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230368"/>
            <a:ext cx="173736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80" b="0">
                <a:solidFill>
                  <a:srgbClr val="B7C8DF"/>
                </a:solidFill>
                <a:latin typeface="Aptos"/>
              </a:rPr>
              <a:t>Downloadable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74320"/>
            <a:ext cx="25603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2D5BEB"/>
                </a:solidFill>
                <a:latin typeface="Aptos"/>
              </a:rPr>
              <a:t>04 •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33272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2500" b="1">
                <a:solidFill>
                  <a:srgbClr val="0A192F"/>
                </a:solidFill>
                <a:latin typeface="Aptos"/>
              </a:rPr>
              <a:t>Model validation &amp; system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28700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0">
                <a:solidFill>
                  <a:srgbClr val="687991"/>
                </a:solidFill>
                <a:latin typeface="Aptos"/>
              </a:rPr>
              <a:t>Measured results are grouped by what they evaluate: classification, healthcare/advisory outputs, and runtime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56692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/>
            <a:r>
              <a:rPr sz="950" b="1">
                <a:solidFill>
                  <a:srgbClr val="687991"/>
                </a:solidFill>
                <a:latin typeface="Aptos"/>
              </a:rPr>
              <a:t>05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10899648" cy="10972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6355080" cy="4828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ccuracy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10" y="1536192"/>
            <a:ext cx="6247598" cy="4110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/>
          <p:cNvSpPr txBox="1"/>
          <p:nvPr/>
        </p:nvSpPr>
        <p:spPr>
          <a:xfrm>
            <a:off x="7269480" y="1572768"/>
            <a:ext cx="347472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00" b="1">
                <a:solidFill>
                  <a:srgbClr val="2D5BEB"/>
                </a:solidFill>
                <a:latin typeface="Aptos"/>
              </a:rPr>
              <a:t>DISEASE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874519"/>
            <a:ext cx="1298448" cy="850392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2002536"/>
            <a:ext cx="1024127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2D5BEB"/>
                </a:solidFill>
                <a:latin typeface="Aptos"/>
              </a:rPr>
              <a:t>91.67%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377439"/>
            <a:ext cx="1024127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69" b="0">
                <a:solidFill>
                  <a:srgbClr val="687991"/>
                </a:solidFill>
                <a:latin typeface="Aptos"/>
              </a:rPr>
              <a:t>Prediction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77656" y="1874519"/>
            <a:ext cx="1298448" cy="850392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4816" y="2002536"/>
            <a:ext cx="1024127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2D5BEB"/>
                </a:solidFill>
                <a:latin typeface="Aptos"/>
              </a:rPr>
              <a:t>46.61%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2377439"/>
            <a:ext cx="1024127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69" b="0">
                <a:solidFill>
                  <a:srgbClr val="687991"/>
                </a:solidFill>
                <a:latin typeface="Aptos"/>
              </a:rP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5832" y="1874519"/>
            <a:ext cx="1298448" cy="850392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22992" y="2002536"/>
            <a:ext cx="1024127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2D5BEB"/>
                </a:solidFill>
                <a:latin typeface="Aptos"/>
              </a:rPr>
              <a:t>49.11%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2992" y="2377439"/>
            <a:ext cx="1024127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69" b="0">
                <a:solidFill>
                  <a:srgbClr val="687991"/>
                </a:solidFill>
                <a:latin typeface="Aptos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34640"/>
            <a:ext cx="388620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10" b="0">
                <a:solidFill>
                  <a:srgbClr val="687991"/>
                </a:solidFill>
                <a:latin typeface="Aptos"/>
              </a:rPr>
              <a:t>F1-score 47.83%   •   Production Fit 84.58%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310128"/>
            <a:ext cx="347472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00" b="1">
                <a:solidFill>
                  <a:srgbClr val="0DA67E"/>
                </a:solidFill>
                <a:latin typeface="Aptos"/>
              </a:rPr>
              <a:t>HEALTHCARE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3611880"/>
            <a:ext cx="1938528" cy="850392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3739896"/>
            <a:ext cx="1664208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0DA67E"/>
                </a:solidFill>
                <a:latin typeface="Aptos"/>
              </a:rPr>
              <a:t>94.91%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114800"/>
            <a:ext cx="1664208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69" b="0">
                <a:solidFill>
                  <a:srgbClr val="687991"/>
                </a:solidFill>
                <a:latin typeface="Aptos"/>
              </a:rPr>
              <a:t>Disease prediction confidence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5168" y="3611880"/>
            <a:ext cx="2039112" cy="850392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3739896"/>
            <a:ext cx="1764792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0DA67E"/>
                </a:solidFill>
                <a:latin typeface="Aptos"/>
              </a:rPr>
              <a:t>66.67%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4114800"/>
            <a:ext cx="1764792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69" b="0">
                <a:solidFill>
                  <a:srgbClr val="687991"/>
                </a:solidFill>
                <a:latin typeface="Aptos"/>
              </a:rPr>
              <a:t>Risk assessment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4572000"/>
            <a:ext cx="3977639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10" b="0">
                <a:solidFill>
                  <a:srgbClr val="687991"/>
                </a:solidFill>
                <a:latin typeface="Aptos"/>
              </a:rPr>
              <a:t>Production Fit 99.17%   •   Recommendation Relevance 94.80%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001768"/>
            <a:ext cx="347472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00" b="1">
                <a:solidFill>
                  <a:srgbClr val="0A192F"/>
                </a:solidFill>
                <a:latin typeface="Aptos"/>
              </a:rPr>
              <a:t>SYSTEM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5303520"/>
            <a:ext cx="1298448" cy="850392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0" y="5431536"/>
            <a:ext cx="1024127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0A192F"/>
                </a:solidFill>
                <a:latin typeface="Aptos"/>
              </a:rPr>
              <a:t>~42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806440"/>
            <a:ext cx="1024127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69" b="0">
                <a:solidFill>
                  <a:srgbClr val="687991"/>
                </a:solidFill>
                <a:latin typeface="Aptos"/>
              </a:rPr>
              <a:t>API response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77656" y="5303520"/>
            <a:ext cx="1298448" cy="850392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14816" y="5431536"/>
            <a:ext cx="1024127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0A192F"/>
                </a:solidFill>
                <a:latin typeface="Aptos"/>
              </a:rPr>
              <a:t>~180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4816" y="5806440"/>
            <a:ext cx="1024127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69" b="0">
                <a:solidFill>
                  <a:srgbClr val="687991"/>
                </a:solidFill>
                <a:latin typeface="Aptos"/>
              </a:rPr>
              <a:t>Dashboard loading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85832" y="5303520"/>
            <a:ext cx="1298448" cy="850392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22992" y="5431536"/>
            <a:ext cx="1024127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800" b="1">
                <a:solidFill>
                  <a:srgbClr val="0A192F"/>
                </a:solidFill>
                <a:latin typeface="Aptos"/>
              </a:rPr>
              <a:t>~12,500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5806440"/>
            <a:ext cx="1024127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69" b="0">
                <a:solidFill>
                  <a:srgbClr val="687991"/>
                </a:solidFill>
                <a:latin typeface="Aptos"/>
              </a:rPr>
              <a:t>Requests / second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74320"/>
            <a:ext cx="25603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2D5BEB"/>
                </a:solidFill>
                <a:latin typeface="Aptos"/>
              </a:rPr>
              <a:t>05 • 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33272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2500" b="1">
                <a:solidFill>
                  <a:srgbClr val="0A192F"/>
                </a:solidFill>
                <a:latin typeface="Aptos"/>
              </a:rPr>
              <a:t>Data management &amp; backend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28700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80" b="0">
                <a:solidFill>
                  <a:srgbClr val="687991"/>
                </a:solidFill>
                <a:latin typeface="Aptos"/>
              </a:rPr>
              <a:t>The demonstrated database stores structured patient and doctor account information alongside timestamps and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10896"/>
            <a:ext cx="56692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/>
            <a:r>
              <a:rPr sz="950" b="1">
                <a:solidFill>
                  <a:srgbClr val="687991"/>
                </a:solidFill>
                <a:latin typeface="Aptos"/>
              </a:rPr>
              <a:t>06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10899648" cy="10972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7452360" cy="3401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tabas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7" y="1810512"/>
            <a:ext cx="7050805" cy="27976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8321040" y="1554480"/>
            <a:ext cx="3227832" cy="3401568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7072" y="1828800"/>
            <a:ext cx="1572768" cy="274320"/>
          </a:xfrm>
          <a:prstGeom prst="roundRect">
            <a:avLst/>
          </a:prstGeom>
          <a:solidFill>
            <a:srgbClr val="F1F7FF"/>
          </a:solidFill>
          <a:ln w="8890">
            <a:solidFill>
              <a:srgbClr val="F1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68512" y="1879092"/>
            <a:ext cx="1389888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19" b="1">
                <a:solidFill>
                  <a:srgbClr val="2D5BEB"/>
                </a:solidFill>
                <a:latin typeface="Aptos"/>
              </a:rPr>
              <a:t>VISIBLE RECORD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7072" y="2304288"/>
            <a:ext cx="11612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59368" y="2382012"/>
            <a:ext cx="987552" cy="1463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8672" y="2304288"/>
            <a:ext cx="11612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30968" y="2382012"/>
            <a:ext cx="987552" cy="1463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788920"/>
            <a:ext cx="11612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9368" y="2866644"/>
            <a:ext cx="987552" cy="1463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8672" y="2788920"/>
            <a:ext cx="11612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30968" y="2866644"/>
            <a:ext cx="987552" cy="1463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password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7072" y="3273552"/>
            <a:ext cx="11612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59368" y="3351276"/>
            <a:ext cx="987552" cy="1463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8672" y="3273552"/>
            <a:ext cx="11612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30968" y="3351276"/>
            <a:ext cx="987552" cy="1463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sex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7072" y="3758184"/>
            <a:ext cx="11612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59368" y="3835908"/>
            <a:ext cx="987552" cy="1463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phone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8672" y="3758184"/>
            <a:ext cx="11612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30968" y="3835908"/>
            <a:ext cx="987552" cy="1463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role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7072" y="4242816"/>
            <a:ext cx="1161288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59368" y="4320540"/>
            <a:ext cx="987552" cy="14630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50" b="1">
                <a:solidFill>
                  <a:srgbClr val="1D2B3F"/>
                </a:solidFill>
                <a:latin typeface="Aptos"/>
              </a:rPr>
              <a:t>createdAt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66944"/>
            <a:ext cx="182880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869" b="1">
                <a:solidFill>
                  <a:srgbClr val="2D5BEB"/>
                </a:solidFill>
                <a:latin typeface="Aptos"/>
              </a:rPr>
              <a:t>APPLICATION DATA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559552"/>
            <a:ext cx="2011680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751576"/>
            <a:ext cx="201168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50" b="1">
                <a:solidFill>
                  <a:srgbClr val="0A192F"/>
                </a:solidFill>
                <a:latin typeface="Aptos"/>
              </a:rPr>
              <a:t>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8064" y="5733288"/>
            <a:ext cx="310896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600" b="1">
                <a:solidFill>
                  <a:srgbClr val="2D5BE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18688" y="5559552"/>
            <a:ext cx="2011680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18688" y="5751576"/>
            <a:ext cx="201168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50" b="1">
                <a:solidFill>
                  <a:srgbClr val="0A192F"/>
                </a:solidFill>
                <a:latin typeface="Aptos"/>
              </a:rPr>
              <a:t>Backend /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5733288"/>
            <a:ext cx="310896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600" b="1">
                <a:solidFill>
                  <a:srgbClr val="2D5BEB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97296" y="5559552"/>
            <a:ext cx="2011680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97296" y="5751576"/>
            <a:ext cx="201168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50" b="1">
                <a:solidFill>
                  <a:srgbClr val="0A192F"/>
                </a:solidFill>
                <a:latin typeface="Aptos"/>
              </a:rPr>
              <a:t>Database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5733288"/>
            <a:ext cx="310896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600" b="1">
                <a:solidFill>
                  <a:srgbClr val="2D5BEB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75904" y="5559552"/>
            <a:ext cx="2761488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75904" y="5751576"/>
            <a:ext cx="276148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050" b="1">
                <a:solidFill>
                  <a:srgbClr val="0A192F"/>
                </a:solidFill>
                <a:latin typeface="Aptos"/>
              </a:rPr>
              <a:t>Stored patient / doctor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393</Words>
  <Application>Microsoft Office PowerPoint</Application>
  <PresentationFormat>Widescreen</PresentationFormat>
  <Paragraphs>115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ABHIJEET SOREN</cp:lastModifiedBy>
  <cp:revision>2</cp:revision>
  <dcterms:created xsi:type="dcterms:W3CDTF">2013-01-27T09:14:16Z</dcterms:created>
  <dcterms:modified xsi:type="dcterms:W3CDTF">2026-08-13T12:24:37Z</dcterms:modified>
  <cp:category/>
</cp:coreProperties>
</file>