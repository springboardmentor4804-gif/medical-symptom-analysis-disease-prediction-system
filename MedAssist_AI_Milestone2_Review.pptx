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Milestone 2: building on the Milestone 1 foundation, this phase delivers real AI-based disease prediction, medical history and profile management, prediction history, reports, and full database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patient's home screen. Walk through the sidebar navigation, the symptom search/selection panel, the Predict Disease button, and the AI prediction result panel. Mention the dashboard also holds medical history, recommendations, prediction history and reports, shown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workflow: the patient selects symptoms, they're sent to the backend, the AI/ML model processes them, the predicted disease is displayed, and the result is stored in prediction history. Screenshots show the actual symptom selection and the live result — Jaundice, in this example. We're not claiming a specific algorithm or accuracy figure since none is exposed in the UI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patient can look back at every previous AI prediction, each with a delete control to manage their own history, plus a latest-report summary, saved medical history, and general recommendations — all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entity-relationship diagram for Milestone 2. Users links to Patients, and Patients links to both Symptoms and Predictions — giving each patient their own symptom and prediction records, all relationally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end-to-end flow: login, dashboard, enter symptoms, AI prediction, result, saved to the database, and available in history and reports. All eight components listed are complete and working together. End with the summary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image" Target="../media/image-6-2.png"/><Relationship Id="rId11" Type="http://schemas.openxmlformats.org/officeDocument/2006/relationships/image" Target="../media/image-6-11.png"/><Relationship Id="rId12" Type="http://schemas.openxmlformats.org/officeDocument/2006/relationships/image" Target="../media/image-6-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4.png"/><Relationship Id="rId16" Type="http://schemas.openxmlformats.org/officeDocument/2006/relationships/image" Target="../media/image-6-14.png"/><Relationship Id="rId17" Type="http://schemas.openxmlformats.org/officeDocument/2006/relationships/image" Target="../media/image-6-14.png"/><Relationship Id="rId18" Type="http://schemas.openxmlformats.org/officeDocument/2006/relationships/image" Target="../media/image-6-14.png"/><Relationship Id="rId19" Type="http://schemas.openxmlformats.org/officeDocument/2006/relationships/image" Target="../media/image-6-14.png"/><Relationship Id="rId20" Type="http://schemas.openxmlformats.org/officeDocument/2006/relationships/image" Target="../media/image-6-14.png"/><Relationship Id="rId21" Type="http://schemas.openxmlformats.org/officeDocument/2006/relationships/image" Target="../media/image-6-14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669280" cy="5669280"/>
          </a:xfrm>
          <a:prstGeom prst="ellipse">
            <a:avLst/>
          </a:prstGeom>
          <a:solidFill>
            <a:srgbClr val="1E3A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663440"/>
            <a:ext cx="4206240" cy="420624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4" name="Image 0" descr="/home/claude/medassist_m2/icons/heartbe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265" y="77724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305" y="1444752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MedAssist AI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67105" y="22128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– AI-Based Disease Prediction &amp; Healthcare Management System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038905" y="2788920"/>
            <a:ext cx="4114800" cy="420624"/>
          </a:xfrm>
          <a:prstGeom prst="roundRect">
            <a:avLst>
              <a:gd name="adj" fmla="val 52174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32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2  —  PROGRESS REVIEW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24305" y="3456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3A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17040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1" descr="/home/claude/medassist_m2/icons/stethoscop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59" y="4019520"/>
            <a:ext cx="227137" cy="22713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7544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Symptom-Based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89808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2" descr="/home/claude/medassist_m2/icons/notesmedic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27" y="4019520"/>
            <a:ext cx="227137" cy="2271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50312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062576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3" descr="/home/claude/medassist_m2/icons/user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895" y="4019520"/>
            <a:ext cx="227137" cy="22713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23080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635344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9" name="Image 4" descr="/home/claude/medassist_m2/icons/histor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663" y="4019520"/>
            <a:ext cx="227137" cy="22713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5848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8208112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5" descr="/home/claude/medassist_m2/icons/fileal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1431" y="4019520"/>
            <a:ext cx="227137" cy="22713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68616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9780880" y="3886200"/>
            <a:ext cx="493776" cy="49377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6" descr="/home/claude/medassist_m2/icons/datab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4199" y="4019520"/>
            <a:ext cx="227137" cy="22713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241384" y="4462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838505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 •  Developed by Mr. Swastik Sukla  • 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01 · PATIENT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 Medical History, Recommendations, Prediction History and Reports — shown on the following slides.</a:t>
            </a:r>
            <a:endParaRPr lang="en-US" sz="1200" dirty="0"/>
          </a:p>
        </p:txBody>
      </p:sp>
      <p:pic>
        <p:nvPicPr>
          <p:cNvPr id="5" name="Image 0" descr="/home/claude/medassist_m2/assets_final/patient_full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089" y="1874520"/>
            <a:ext cx="812951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20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82880" y="3749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Symptoms, Reports, Profile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12848" y="3657600"/>
            <a:ext cx="559881" cy="172894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7830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&amp; Select Symptoms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or check symptoms from the list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95728" y="1920240"/>
            <a:ext cx="2703795" cy="1136014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0" y="20116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Prediction Result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05840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predicted disease instantly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 flipV="1">
            <a:off x="6839525" y="2148840"/>
            <a:ext cx="3218875" cy="1050037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3360" y="6108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Disease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794760" y="6327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symptoms to the AI model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 flipV="1">
            <a:off x="5074920" y="4902205"/>
            <a:ext cx="24603" cy="1205987"/>
          </a:xfrm>
          <a:prstGeom prst="line">
            <a:avLst/>
          </a:prstGeom>
          <a:noFill/>
          <a:ln w="15875">
            <a:solidFill>
              <a:srgbClr val="1E3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2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06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02 · AI PREDICTION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Prediction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61592" y="169164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/home/claude/medassist_m2/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258" y="1853306"/>
            <a:ext cx="298460" cy="29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8088" y="2404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22296" y="18653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1" descr="/home/claude/medassist_m2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646" y="1925726"/>
            <a:ext cx="153619" cy="15361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73272" y="169164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2" descr="/home/claude/medassist_m2/icons/upl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938" y="1853306"/>
            <a:ext cx="298460" cy="298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169768" y="2404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833976" y="18653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3" descr="/home/claude/medassist_m2/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326" y="1925726"/>
            <a:ext cx="153619" cy="153619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784952" y="169164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4" descr="/home/claude/medassist_m2/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6618" y="1853306"/>
            <a:ext cx="298460" cy="2984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81448" y="2404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6845656" y="18653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5" descr="/home/claude/medassist_m2/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006" y="1925726"/>
            <a:ext cx="153619" cy="153619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796632" y="169164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0" name="Image 6" descr="/home/claude/medassist_m2/icons/notesmedical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8298" y="1853306"/>
            <a:ext cx="298460" cy="2984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193128" y="2404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Predicted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050" dirty="0"/>
          </a:p>
        </p:txBody>
      </p:sp>
      <p:sp>
        <p:nvSpPr>
          <p:cNvPr id="22" name="Shape 13"/>
          <p:cNvSpPr/>
          <p:nvPr/>
        </p:nvSpPr>
        <p:spPr>
          <a:xfrm>
            <a:off x="8857336" y="18653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3" name="Image 7" descr="/home/claude/medassist_m2/icons/arrowrigh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7686" y="1925726"/>
            <a:ext cx="153619" cy="153619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808312" y="1691640"/>
            <a:ext cx="621792" cy="6217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8" descr="/home/claude/medassist_m2/icons/history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9978" y="1853306"/>
            <a:ext cx="298460" cy="29846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204808" y="2404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sp>
        <p:nvSpPr>
          <p:cNvPr id="27" name="Text 16"/>
          <p:cNvSpPr/>
          <p:nvPr/>
        </p:nvSpPr>
        <p:spPr>
          <a:xfrm>
            <a:off x="548640" y="278892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symptoms flow from the patient to the AI engine and back as a stored result.</a:t>
            </a:r>
            <a:endParaRPr lang="en-US" sz="1150" dirty="0"/>
          </a:p>
        </p:txBody>
      </p:sp>
      <p:pic>
        <p:nvPicPr>
          <p:cNvPr id="28" name="Image 9" descr="/home/claude/medassist_m2/assets_final/symptoms_card_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8654" y="3246120"/>
            <a:ext cx="1968246" cy="2880360"/>
          </a:xfrm>
          <a:prstGeom prst="rect">
            <a:avLst/>
          </a:prstGeom>
        </p:spPr>
      </p:pic>
      <p:pic>
        <p:nvPicPr>
          <p:cNvPr id="29" name="Image 10" descr="/home/claude/medassist_m2/assets_final/prediction_card_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4100" y="3246120"/>
            <a:ext cx="3928940" cy="288036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2918654" y="6172200"/>
            <a:ext cx="1968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Selection</a:t>
            </a:r>
            <a:endParaRPr lang="en-US" sz="1250" dirty="0"/>
          </a:p>
        </p:txBody>
      </p:sp>
      <p:sp>
        <p:nvSpPr>
          <p:cNvPr id="31" name="Text 18"/>
          <p:cNvSpPr/>
          <p:nvPr/>
        </p:nvSpPr>
        <p:spPr>
          <a:xfrm>
            <a:off x="5344100" y="6172200"/>
            <a:ext cx="3928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Prediction Result</a:t>
            </a:r>
            <a:endParaRPr lang="en-US" sz="1250" dirty="0"/>
          </a:p>
        </p:txBody>
      </p:sp>
      <p:sp>
        <p:nvSpPr>
          <p:cNvPr id="32" name="Text 19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2</a:t>
            </a:r>
            <a:endParaRPr lang="en-US" sz="950" dirty="0"/>
          </a:p>
        </p:txBody>
      </p:sp>
      <p:sp>
        <p:nvSpPr>
          <p:cNvPr id="33" name="Text 20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06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03 · PATIENT RECORDS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Prediction History</a:t>
            </a:r>
            <a:endParaRPr lang="en-US" sz="2800" dirty="0"/>
          </a:p>
        </p:txBody>
      </p:sp>
      <p:pic>
        <p:nvPicPr>
          <p:cNvPr id="4" name="Image 0" descr="/home/claude/medassist_m2/assets_final/history_grid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672123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236208"/>
            <a:ext cx="56721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History · Latest Report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32243" y="182880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/home/claude/medassist_m2/icons/histor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018" y="1946575"/>
            <a:ext cx="185075" cy="185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99171" y="1810512"/>
            <a:ext cx="44438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History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199171" y="2148840"/>
            <a:ext cx="4443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past AI prediction is listed, each with its own delete control.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632243" y="288036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2" descr="/home/claude/medassist_m2/icons/file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018" y="2998135"/>
            <a:ext cx="185075" cy="185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99171" y="2862072"/>
            <a:ext cx="44438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Report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199171" y="3200400"/>
            <a:ext cx="4443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prediction is summarized for quick reference.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632243" y="393192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3" descr="/home/claude/medassist_m2/icons/notesmedic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018" y="4049695"/>
            <a:ext cx="185075" cy="1850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99171" y="3913632"/>
            <a:ext cx="44438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History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7199171" y="4251960"/>
            <a:ext cx="4443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Patient-entered allergies and conditions, saved for the record.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632243" y="4983480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4" descr="/home/claude/medassist_m2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018" y="5101255"/>
            <a:ext cx="185075" cy="1850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199171" y="4965192"/>
            <a:ext cx="44438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7199171" y="5303520"/>
            <a:ext cx="44438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self-care guidance shown alongside each result.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2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06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04 · DATA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Integration</a:t>
            </a:r>
            <a:endParaRPr lang="en-US" sz="2800" dirty="0"/>
          </a:p>
        </p:txBody>
      </p:sp>
      <p:pic>
        <p:nvPicPr>
          <p:cNvPr id="4" name="Image 0" descr="/home/claude/medassist_m2/assets_final/db_erd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122598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281928"/>
            <a:ext cx="3122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Tables (ERD)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174158" y="1691640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7" name="Image 1" descr="/home/claude/medassist_m2/icons/sign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933" y="1809415"/>
            <a:ext cx="185075" cy="185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41086" y="1673352"/>
            <a:ext cx="69019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741086" y="1984248"/>
            <a:ext cx="69019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details — name, email, password, role.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174158" y="2715768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1" name="Image 2" descr="/home/claude/medassist_m2/icons/userm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933" y="2833543"/>
            <a:ext cx="185075" cy="185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41086" y="2697480"/>
            <a:ext cx="69019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741086" y="3008376"/>
            <a:ext cx="69019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info — age, gender, blood group — linked to a user account.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174158" y="3739896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5" name="Image 3" descr="/home/claude/medassist_m2/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933" y="3857671"/>
            <a:ext cx="185075" cy="1850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41086" y="3721608"/>
            <a:ext cx="69019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741086" y="4032504"/>
            <a:ext cx="69019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symptoms and medical history per patient.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174158" y="4764024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9" name="Image 4" descr="/home/claude/medassist_m2/icons/notesmedic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933" y="4881799"/>
            <a:ext cx="185075" cy="1850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41086" y="4745736"/>
            <a:ext cx="69019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5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741086" y="5056632"/>
            <a:ext cx="69019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results — predicted disease, confidence, risk level, recommendation &amp; timestamp.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4174158" y="5879592"/>
            <a:ext cx="74688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tables are relationally linked through user_id and patient_id.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2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06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2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 &amp; System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patient's symptoms become a stored, reviewable prediction.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21512" y="178308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/home/claude/medassist_m2/icons/sign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4648" y="191621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6024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pic>
        <p:nvPicPr>
          <p:cNvPr id="8" name="Image 1" descr="/home/claude/medassist_m2/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60" y="1938528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94280" y="178308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0" name="Image 2" descr="/home/claude/medassist_m2/icons/tachomet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7416" y="1916217"/>
            <a:ext cx="245791" cy="2457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18792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12" name="Image 3" descr="/home/claude/medassist_m2/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528" y="1938528"/>
            <a:ext cx="201168" cy="20116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267048" y="178308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4" descr="/home/claude/medassist_m2/icons/clipbo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184" y="1916217"/>
            <a:ext cx="245791" cy="24579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791560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900" dirty="0"/>
          </a:p>
        </p:txBody>
      </p:sp>
      <p:pic>
        <p:nvPicPr>
          <p:cNvPr id="16" name="Image 5" descr="/home/claude/medassist_m2/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8296" y="1938528"/>
            <a:ext cx="201168" cy="201168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839816" y="178308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6" descr="/home/claude/medassist_m2/icons/bra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952" y="1916217"/>
            <a:ext cx="245791" cy="24579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364328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</p:txBody>
      </p:sp>
      <p:pic>
        <p:nvPicPr>
          <p:cNvPr id="20" name="Image 7" descr="/home/claude/medassist_m2/icons/arrowrigh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1064" y="1938528"/>
            <a:ext cx="201168" cy="201168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7412584" y="178308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2" name="Image 8" descr="/home/claude/medassist_m2/icons/notesmedical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5720" y="1916217"/>
            <a:ext cx="245791" cy="245791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937096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pic>
        <p:nvPicPr>
          <p:cNvPr id="24" name="Image 9" descr="/home/claude/medassist_m2/icons/arrowright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3832" y="1938528"/>
            <a:ext cx="201168" cy="201168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8985352" y="178308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6" name="Image 10" descr="/home/claude/medassist_m2/icons/database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8488" y="1916217"/>
            <a:ext cx="245791" cy="245791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8509864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pic>
        <p:nvPicPr>
          <p:cNvPr id="28" name="Image 11" descr="/home/claude/medassist_m2/icons/arrowright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6600" y="1938528"/>
            <a:ext cx="201168" cy="201168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10558120" y="178308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0" name="Image 12" descr="/home/claude/medassist_m2/icons/history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91256" y="1916217"/>
            <a:ext cx="245791" cy="245791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10082632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  <p:sp>
        <p:nvSpPr>
          <p:cNvPr id="32" name="Text 17"/>
          <p:cNvSpPr/>
          <p:nvPr/>
        </p:nvSpPr>
        <p:spPr>
          <a:xfrm>
            <a:off x="548640" y="3063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80" kern="0" dirty="0">
                <a:solidFill>
                  <a:srgbClr val="93A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COMPONENTS</a:t>
            </a:r>
            <a:endParaRPr lang="en-US" sz="1100" dirty="0"/>
          </a:p>
        </p:txBody>
      </p:sp>
      <p:sp>
        <p:nvSpPr>
          <p:cNvPr id="33" name="Shape 18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4" name="Image 13" descr="/home/claude/medassist_m2/icons/check_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990" y="3443630"/>
            <a:ext cx="153619" cy="153619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32688" y="3364992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1150" dirty="0"/>
          </a:p>
        </p:txBody>
      </p:sp>
      <p:sp>
        <p:nvSpPr>
          <p:cNvPr id="36" name="Shape 20"/>
          <p:cNvSpPr/>
          <p:nvPr/>
        </p:nvSpPr>
        <p:spPr>
          <a:xfrm>
            <a:off x="3322244" y="33832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37" name="Image 14" descr="/home/claude/medassist_m2/icons/check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2594" y="3443630"/>
            <a:ext cx="153619" cy="153619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3706292" y="3364992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Integration</a:t>
            </a:r>
            <a:endParaRPr lang="en-US" sz="1150" dirty="0"/>
          </a:p>
        </p:txBody>
      </p:sp>
      <p:sp>
        <p:nvSpPr>
          <p:cNvPr id="39" name="Shape 22"/>
          <p:cNvSpPr/>
          <p:nvPr/>
        </p:nvSpPr>
        <p:spPr>
          <a:xfrm>
            <a:off x="6095848" y="33832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0" name="Image 15" descr="/home/claude/medassist_m2/icons/check_whit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56198" y="3443630"/>
            <a:ext cx="153619" cy="153619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479896" y="3364992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150" dirty="0"/>
          </a:p>
        </p:txBody>
      </p:sp>
      <p:sp>
        <p:nvSpPr>
          <p:cNvPr id="42" name="Shape 24"/>
          <p:cNvSpPr/>
          <p:nvPr/>
        </p:nvSpPr>
        <p:spPr>
          <a:xfrm>
            <a:off x="8869451" y="338328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3" name="Image 16" descr="/home/claude/medassist_m2/icons/check_whit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29802" y="3443630"/>
            <a:ext cx="153619" cy="153619"/>
          </a:xfrm>
          <a:prstGeom prst="rect">
            <a:avLst/>
          </a:prstGeom>
        </p:spPr>
      </p:pic>
      <p:sp>
        <p:nvSpPr>
          <p:cNvPr id="44" name="Text 25"/>
          <p:cNvSpPr/>
          <p:nvPr/>
        </p:nvSpPr>
        <p:spPr>
          <a:xfrm>
            <a:off x="9253499" y="3364992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45" name="Shape 26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6" name="Image 17" descr="/home/claude/medassist_m2/icons/check_whit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8990" y="3946550"/>
            <a:ext cx="153619" cy="153619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932688" y="3867912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</a:t>
            </a:r>
            <a:endParaRPr lang="en-US" sz="1150" dirty="0"/>
          </a:p>
        </p:txBody>
      </p:sp>
      <p:sp>
        <p:nvSpPr>
          <p:cNvPr id="48" name="Shape 28"/>
          <p:cNvSpPr/>
          <p:nvPr/>
        </p:nvSpPr>
        <p:spPr>
          <a:xfrm>
            <a:off x="3322244" y="388620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9" name="Image 18" descr="/home/claude/medassist_m2/icons/check_whit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2594" y="3946550"/>
            <a:ext cx="153619" cy="153619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3706292" y="3867912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</a:t>
            </a:r>
            <a:endParaRPr lang="en-US" sz="1150" dirty="0"/>
          </a:p>
        </p:txBody>
      </p:sp>
      <p:sp>
        <p:nvSpPr>
          <p:cNvPr id="51" name="Shape 30"/>
          <p:cNvSpPr/>
          <p:nvPr/>
        </p:nvSpPr>
        <p:spPr>
          <a:xfrm>
            <a:off x="6095848" y="388620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2" name="Image 19" descr="/home/claude/medassist_m2/icons/check_whit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56198" y="3946550"/>
            <a:ext cx="153619" cy="153619"/>
          </a:xfrm>
          <a:prstGeom prst="rect">
            <a:avLst/>
          </a:prstGeom>
        </p:spPr>
      </p:pic>
      <p:sp>
        <p:nvSpPr>
          <p:cNvPr id="53" name="Text 31"/>
          <p:cNvSpPr/>
          <p:nvPr/>
        </p:nvSpPr>
        <p:spPr>
          <a:xfrm>
            <a:off x="6479896" y="3867912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History</a:t>
            </a:r>
            <a:endParaRPr lang="en-US" sz="1150" dirty="0"/>
          </a:p>
        </p:txBody>
      </p:sp>
      <p:sp>
        <p:nvSpPr>
          <p:cNvPr id="54" name="Shape 32"/>
          <p:cNvSpPr/>
          <p:nvPr/>
        </p:nvSpPr>
        <p:spPr>
          <a:xfrm>
            <a:off x="8869451" y="388620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5" name="Image 20" descr="/home/claude/medassist_m2/icons/check_whit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29802" y="3946550"/>
            <a:ext cx="153619" cy="153619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9253499" y="3867912"/>
            <a:ext cx="23164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57" name="Shape 34"/>
          <p:cNvSpPr/>
          <p:nvPr/>
        </p:nvSpPr>
        <p:spPr>
          <a:xfrm>
            <a:off x="548640" y="470916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/>
        </p:spPr>
      </p:sp>
      <p:sp>
        <p:nvSpPr>
          <p:cNvPr id="58" name="Text 35"/>
          <p:cNvSpPr/>
          <p:nvPr/>
        </p:nvSpPr>
        <p:spPr>
          <a:xfrm>
            <a:off x="914400" y="4709160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2 successfully integrates the frontend, backend, AI prediction system, and database into a functional healthcare management workflow.</a:t>
            </a:r>
            <a:endParaRPr lang="en-US" sz="1500" dirty="0"/>
          </a:p>
        </p:txBody>
      </p:sp>
      <p:sp>
        <p:nvSpPr>
          <p:cNvPr id="59" name="Text 36"/>
          <p:cNvSpPr/>
          <p:nvPr/>
        </p:nvSpPr>
        <p:spPr>
          <a:xfrm>
            <a:off x="54864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MedAssist AI  |  Milestone 2</a:t>
            </a:r>
            <a:endParaRPr lang="en-US" sz="950" dirty="0"/>
          </a:p>
        </p:txBody>
      </p:sp>
      <p:sp>
        <p:nvSpPr>
          <p:cNvPr id="60" name="Text 37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3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06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2026-08-12T19:49:24Z</dcterms:created>
  <dcterms:modified xsi:type="dcterms:W3CDTF">2026-08-12T19:49:24Z</dcterms:modified>
</cp:coreProperties>
</file>