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Milestone 4 takes everything from Milestone 3 and puts it live on the internet. Same recommendation engine, reports, and analytics as before — the new part this time is getting it all running on real cloud infrastructure that anyone can access.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recommendation engine from Milestone 3: predicted disease, confidence, risk level, plus a recommendation, treatment suggestion, and advisory.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report feature from Milestone 3: patient info, symptoms, and medical history, with Print / Save as PDF.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provider view from Milestone 3: the doctor sees the same prediction, risk level, recommendation, and treatment advisory as the patient.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analytics dashboard from Milestone 3: summary stats, confidence trend chart, and prediction history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about how the app runs in the real world, not just on a laptop. The backend is packaged in Docker so it behaves the same everywhere, and it runs on an AWS EC2 server that stays on 24/7, with 2GB of swap memory added for stability. The frontend is hosted on Vercel, which auto-deploys every time we push to GitHub main. And there's a proxy in vercel.json that quietly forwards API calls to the EC2 server, so the browser never throws CORS or mixed-content errors. At the bottom are the live links — the app and the API docs are both online right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0" Type="http://schemas.openxmlformats.org/officeDocument/2006/relationships/hyperlink" Target="https://med-assist-ai-delta.vercel.app/" TargetMode="External"/><Relationship Id="rId11" Type="http://schemas.openxmlformats.org/officeDocument/2006/relationships/hyperlink" Target="http://3.110.188.253/docs" TargetMode="External"/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2.png"/><Relationship Id="rId5" Type="http://schemas.openxmlformats.org/officeDocument/2006/relationships/image" Target="../media/image-6-5.png"/><Relationship Id="rId6" Type="http://schemas.openxmlformats.org/officeDocument/2006/relationships/image" Target="../media/image-6-5.png"/><Relationship Id="rId7" Type="http://schemas.openxmlformats.org/officeDocument/2006/relationships/image" Target="../media/image-6-7.png"/><Relationship Id="rId8" Type="http://schemas.openxmlformats.org/officeDocument/2006/relationships/image" Target="../media/image-6-3.png"/><Relationship Id="rId9" Type="http://schemas.openxmlformats.org/officeDocument/2006/relationships/image" Target="../media/image-6-9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2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103120"/>
            <a:ext cx="5669280" cy="5669280"/>
          </a:xfrm>
          <a:prstGeom prst="ellipse">
            <a:avLst/>
          </a:prstGeom>
          <a:solidFill>
            <a:srgbClr val="1E3A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103120" y="4663440"/>
            <a:ext cx="4206240" cy="4206240"/>
          </a:xfrm>
          <a:prstGeom prst="ellipse">
            <a:avLst/>
          </a:prstGeom>
          <a:solidFill>
            <a:srgbClr val="14B8A6">
              <a:alpha val="12000"/>
            </a:srgbClr>
          </a:solidFill>
          <a:ln/>
        </p:spPr>
      </p:sp>
      <p:pic>
        <p:nvPicPr>
          <p:cNvPr id="4" name="Image 0" descr="/home/claude/medassist_m4/icons/heartbea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6265" y="73152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24305" y="1399032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MedAssist AI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1067105" y="216712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C7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4 – Production Deployment &amp; Cloud Architecture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4038905" y="2743200"/>
            <a:ext cx="4114800" cy="420624"/>
          </a:xfrm>
          <a:prstGeom prst="roundRect">
            <a:avLst>
              <a:gd name="adj" fmla="val 52174"/>
            </a:avLst>
          </a:prstGeom>
          <a:solidFill>
            <a:srgbClr val="14B8A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132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 4  —  PROGRESS REVIEW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524305" y="340156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93A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BUILT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1194664" y="3886200"/>
            <a:ext cx="475488" cy="475488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0" name="Image 1" descr="/home/claude/medassist_m4/icons/shieldal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045" y="4014582"/>
            <a:ext cx="218724" cy="21872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55168" y="4443984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7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7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2749144" y="3886200"/>
            <a:ext cx="475488" cy="475488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3" name="Image 2" descr="/home/claude/medassist_m4/icons/filemedical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7525" y="4014582"/>
            <a:ext cx="218724" cy="21872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209648" y="4443984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7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7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900" dirty="0"/>
          </a:p>
        </p:txBody>
      </p:sp>
      <p:sp>
        <p:nvSpPr>
          <p:cNvPr id="15" name="Shape 10"/>
          <p:cNvSpPr/>
          <p:nvPr/>
        </p:nvSpPr>
        <p:spPr>
          <a:xfrm>
            <a:off x="4303624" y="3886200"/>
            <a:ext cx="475488" cy="475488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6" name="Image 3" descr="/home/claude/medassist_m4/icons/chartlin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2005" y="4014582"/>
            <a:ext cx="218724" cy="21872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764128" y="4443984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7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7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00" dirty="0"/>
          </a:p>
        </p:txBody>
      </p:sp>
      <p:sp>
        <p:nvSpPr>
          <p:cNvPr id="18" name="Shape 12"/>
          <p:cNvSpPr/>
          <p:nvPr/>
        </p:nvSpPr>
        <p:spPr>
          <a:xfrm>
            <a:off x="5858104" y="3886200"/>
            <a:ext cx="475488" cy="475488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9" name="Image 4" descr="/home/claude/medassist_m4/icons/history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6485" y="4014582"/>
            <a:ext cx="218724" cy="218724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318608" y="4443984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7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Trend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7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Visualizations</a:t>
            </a:r>
            <a:endParaRPr lang="en-US" sz="900" dirty="0"/>
          </a:p>
        </p:txBody>
      </p:sp>
      <p:sp>
        <p:nvSpPr>
          <p:cNvPr id="21" name="Shape 14"/>
          <p:cNvSpPr/>
          <p:nvPr/>
        </p:nvSpPr>
        <p:spPr>
          <a:xfrm>
            <a:off x="7412584" y="3886200"/>
            <a:ext cx="475488" cy="475488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22" name="Image 5" descr="/home/claude/medassist_m4/icons/docker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40965" y="4014582"/>
            <a:ext cx="218724" cy="218724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6873088" y="4443984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7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Dockerized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7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900" dirty="0"/>
          </a:p>
        </p:txBody>
      </p:sp>
      <p:sp>
        <p:nvSpPr>
          <p:cNvPr id="24" name="Shape 16"/>
          <p:cNvSpPr/>
          <p:nvPr/>
        </p:nvSpPr>
        <p:spPr>
          <a:xfrm>
            <a:off x="8967064" y="3886200"/>
            <a:ext cx="475488" cy="475488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25" name="Image 6" descr="/home/claude/medassist_m4/icons/cloud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95445" y="4014582"/>
            <a:ext cx="218724" cy="218724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8427568" y="4443984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7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7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</a:t>
            </a:r>
            <a:endParaRPr lang="en-US" sz="900" dirty="0"/>
          </a:p>
        </p:txBody>
      </p:sp>
      <p:sp>
        <p:nvSpPr>
          <p:cNvPr id="27" name="Shape 18"/>
          <p:cNvSpPr/>
          <p:nvPr/>
        </p:nvSpPr>
        <p:spPr>
          <a:xfrm>
            <a:off x="10521544" y="3886200"/>
            <a:ext cx="475488" cy="475488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28" name="Image 7" descr="/home/claude/medassist_m4/icons/externallink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49925" y="4014582"/>
            <a:ext cx="218724" cy="218724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9982048" y="4443984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7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Production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7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900" dirty="0"/>
          </a:p>
        </p:txBody>
      </p:sp>
      <p:sp>
        <p:nvSpPr>
          <p:cNvPr id="30" name="Text 20"/>
          <p:cNvSpPr/>
          <p:nvPr/>
        </p:nvSpPr>
        <p:spPr>
          <a:xfrm>
            <a:off x="838505" y="6172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3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Internship  •  Developed by Mr. Swastik Sukla  •  August 2026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6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01 · PATIENT EXPERIENCE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 &amp; Treatment Engine</a:t>
            </a:r>
            <a:endParaRPr lang="en-US" sz="2800" dirty="0"/>
          </a:p>
        </p:txBody>
      </p:sp>
      <p:pic>
        <p:nvPicPr>
          <p:cNvPr id="4" name="Image 0" descr="/mnt/user-data/uploads/Screenshot_2026-08-31_12082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284" y="1417320"/>
            <a:ext cx="10097128" cy="4892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3550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results include Confidence %, Risk Level, a Recommendation, a Treatment Suggestion, and an Advisory.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MedAssist AI  |  Milestone 4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10728655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06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6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02 · GENERATED DOCUMENT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Disease Prediction Report</a:t>
            </a:r>
            <a:endParaRPr lang="en-US" sz="2800" dirty="0"/>
          </a:p>
        </p:txBody>
      </p:sp>
      <p:pic>
        <p:nvPicPr>
          <p:cNvPr id="4" name="Image 0" descr="/mnt/user-data/uploads/Screenshot_2026-08-31_12083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12809" y="1417320"/>
            <a:ext cx="6766076" cy="4892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3550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downloadable Medical Report is generated from the prediction, printable or savable as PDF.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MedAssist AI  |  Milestone 4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10728655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06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6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03 · PROVIDER EXPERIENCE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Assessment &amp; Treatment Advisory</a:t>
            </a:r>
            <a:endParaRPr lang="en-US" sz="2800" dirty="0"/>
          </a:p>
        </p:txBody>
      </p:sp>
      <p:pic>
        <p:nvPicPr>
          <p:cNvPr id="4" name="Image 0" descr="/mnt/user-data/uploads/Screenshot_2026-08-31_12094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696" y="1417320"/>
            <a:ext cx="10466303" cy="4892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3550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provider dashboard mirrors the same prediction, with risk level, recommendations, and treatment &amp; advisory guidance.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MedAssist AI  |  Milestone 4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10728655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06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6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04 · HEALTHCARE ANALYTICS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Dashboard &amp; Health Trends</a:t>
            </a:r>
            <a:endParaRPr lang="en-US" sz="2800" dirty="0"/>
          </a:p>
        </p:txBody>
      </p:sp>
      <p:pic>
        <p:nvPicPr>
          <p:cNvPr id="4" name="Image 0" descr="/mnt/user-data/uploads/Screenshot_2026-08-31_12104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5808" y="1417320"/>
            <a:ext cx="9140080" cy="4892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3550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Predictions, Average Confidence, and Latest Disease are tracked, with a confidence trend chart and full history table.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MedAssist AI  |  Milestone 4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10728655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06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6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05 · INFRASTRUCTURE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Cloud Deployment &amp;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272388" y="1508760"/>
            <a:ext cx="2880360" cy="1051560"/>
          </a:xfrm>
          <a:prstGeom prst="roundRect">
            <a:avLst>
              <a:gd name="adj" fmla="val 8696"/>
            </a:avLst>
          </a:prstGeom>
          <a:solidFill>
            <a:srgbClr val="1E3A8A"/>
          </a:solidFill>
          <a:ln/>
        </p:spPr>
      </p:sp>
      <p:sp>
        <p:nvSpPr>
          <p:cNvPr id="5" name="Shape 3"/>
          <p:cNvSpPr/>
          <p:nvPr/>
        </p:nvSpPr>
        <p:spPr>
          <a:xfrm>
            <a:off x="1436980" y="180594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/home/claude/medassist_m4/icons/userm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6708" y="1915668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22196" y="165506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2022196" y="20116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/ Doctor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285336" y="1897380"/>
            <a:ext cx="274320" cy="274320"/>
          </a:xfrm>
          <a:prstGeom prst="ellipse">
            <a:avLst/>
          </a:prstGeom>
          <a:solidFill>
            <a:srgbClr val="6B7280"/>
          </a:solidFill>
          <a:ln/>
        </p:spPr>
      </p:sp>
      <p:pic>
        <p:nvPicPr>
          <p:cNvPr id="10" name="Image 1" descr="/home/claude/medassist_m4/icons/arrowrigh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5686" y="1957730"/>
            <a:ext cx="153619" cy="153619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655668" y="1508760"/>
            <a:ext cx="2880360" cy="1051560"/>
          </a:xfrm>
          <a:prstGeom prst="roundRect">
            <a:avLst>
              <a:gd name="adj" fmla="val 8696"/>
            </a:avLst>
          </a:prstGeom>
          <a:solidFill>
            <a:srgbClr val="2563EB"/>
          </a:solidFill>
          <a:ln/>
        </p:spPr>
      </p:sp>
      <p:sp>
        <p:nvSpPr>
          <p:cNvPr id="12" name="Shape 8"/>
          <p:cNvSpPr/>
          <p:nvPr/>
        </p:nvSpPr>
        <p:spPr>
          <a:xfrm>
            <a:off x="4820260" y="180594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2" descr="/home/claude/medassist_m4/icons/clou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9988" y="1915668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405476" y="165506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5405476" y="20116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+ Reverse Proxy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7668616" y="1897380"/>
            <a:ext cx="274320" cy="274320"/>
          </a:xfrm>
          <a:prstGeom prst="ellipse">
            <a:avLst/>
          </a:prstGeom>
          <a:solidFill>
            <a:srgbClr val="6B7280"/>
          </a:solidFill>
          <a:ln/>
        </p:spPr>
      </p:sp>
      <p:pic>
        <p:nvPicPr>
          <p:cNvPr id="17" name="Image 3" descr="/home/claude/medassist_m4/icons/arrowrigh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8966" y="1957730"/>
            <a:ext cx="153619" cy="153619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8038948" y="1508760"/>
            <a:ext cx="2880360" cy="1051560"/>
          </a:xfrm>
          <a:prstGeom prst="roundRect">
            <a:avLst>
              <a:gd name="adj" fmla="val 8696"/>
            </a:avLst>
          </a:prstGeom>
          <a:solidFill>
            <a:srgbClr val="0D9488"/>
          </a:solidFill>
          <a:ln/>
        </p:spPr>
      </p:sp>
      <p:sp>
        <p:nvSpPr>
          <p:cNvPr id="19" name="Shape 13"/>
          <p:cNvSpPr/>
          <p:nvPr/>
        </p:nvSpPr>
        <p:spPr>
          <a:xfrm>
            <a:off x="8203540" y="180594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4" descr="/home/claude/medassist_m4/icons/docker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3268" y="1915668"/>
            <a:ext cx="237744" cy="23774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8788756" y="165506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EC2</a:t>
            </a:r>
            <a:endParaRPr lang="en-US" sz="1450" dirty="0"/>
          </a:p>
        </p:txBody>
      </p:sp>
      <p:sp>
        <p:nvSpPr>
          <p:cNvPr id="22" name="Text 15"/>
          <p:cNvSpPr/>
          <p:nvPr/>
        </p:nvSpPr>
        <p:spPr>
          <a:xfrm>
            <a:off x="8788756" y="20116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Docker: FastAPI + ML Model</a:t>
            </a:r>
            <a:endParaRPr lang="en-US" sz="1000" dirty="0"/>
          </a:p>
        </p:txBody>
      </p:sp>
      <p:sp>
        <p:nvSpPr>
          <p:cNvPr id="23" name="Shape 16"/>
          <p:cNvSpPr/>
          <p:nvPr/>
        </p:nvSpPr>
        <p:spPr>
          <a:xfrm>
            <a:off x="548640" y="2907792"/>
            <a:ext cx="365760" cy="365760"/>
          </a:xfrm>
          <a:prstGeom prst="ellipse">
            <a:avLst/>
          </a:prstGeom>
          <a:solidFill>
            <a:srgbClr val="1E3A8A"/>
          </a:solidFill>
          <a:ln/>
        </p:spPr>
      </p:sp>
      <p:pic>
        <p:nvPicPr>
          <p:cNvPr id="24" name="Image 5" descr="/home/claude/medassist_m4/icons/docker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2999232"/>
            <a:ext cx="182880" cy="18288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051560" y="2852928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Containerization  —  </a:t>
            </a:r>
            <a:pPr algn="l"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runs in Docker, so it behaves the same everywhere.</a:t>
            </a:r>
            <a:endParaRPr lang="en-US" sz="1250" dirty="0"/>
          </a:p>
        </p:txBody>
      </p:sp>
      <p:sp>
        <p:nvSpPr>
          <p:cNvPr id="26" name="Text 18"/>
          <p:cNvSpPr/>
          <p:nvPr/>
        </p:nvSpPr>
        <p:spPr>
          <a:xfrm>
            <a:off x="1051560" y="313639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on Python 3.11, with scikit-learn models packaged in the container.</a:t>
            </a:r>
            <a:endParaRPr lang="en-US" sz="1000" dirty="0"/>
          </a:p>
        </p:txBody>
      </p:sp>
      <p:sp>
        <p:nvSpPr>
          <p:cNvPr id="27" name="Shape 19"/>
          <p:cNvSpPr/>
          <p:nvPr/>
        </p:nvSpPr>
        <p:spPr>
          <a:xfrm>
            <a:off x="548640" y="3566160"/>
            <a:ext cx="365760" cy="365760"/>
          </a:xfrm>
          <a:prstGeom prst="ellipse">
            <a:avLst/>
          </a:prstGeom>
          <a:solidFill>
            <a:srgbClr val="1E3A8A"/>
          </a:solidFill>
          <a:ln/>
        </p:spPr>
      </p:sp>
      <p:pic>
        <p:nvPicPr>
          <p:cNvPr id="28" name="Image 6" descr="/home/claude/medassist_m4/icons/server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3657600"/>
            <a:ext cx="182880" cy="18288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1051560" y="3511296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Infrastructure  —  </a:t>
            </a:r>
            <a:pPr algn="l"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always-on AWS server hosts the backend.</a:t>
            </a:r>
            <a:endParaRPr lang="en-US" sz="1250" dirty="0"/>
          </a:p>
        </p:txBody>
      </p:sp>
      <p:sp>
        <p:nvSpPr>
          <p:cNvPr id="30" name="Text 21"/>
          <p:cNvSpPr/>
          <p:nvPr/>
        </p:nvSpPr>
        <p:spPr>
          <a:xfrm>
            <a:off x="1051560" y="379476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EC2 instance running 24/7, with 2GB swap memory configured for stability.</a:t>
            </a:r>
            <a:endParaRPr lang="en-US" sz="1000" dirty="0"/>
          </a:p>
        </p:txBody>
      </p:sp>
      <p:sp>
        <p:nvSpPr>
          <p:cNvPr id="31" name="Shape 22"/>
          <p:cNvSpPr/>
          <p:nvPr/>
        </p:nvSpPr>
        <p:spPr>
          <a:xfrm>
            <a:off x="548640" y="4224528"/>
            <a:ext cx="365760" cy="365760"/>
          </a:xfrm>
          <a:prstGeom prst="ellipse">
            <a:avLst/>
          </a:prstGeom>
          <a:solidFill>
            <a:srgbClr val="1E3A8A"/>
          </a:solidFill>
          <a:ln/>
        </p:spPr>
      </p:sp>
      <p:pic>
        <p:nvPicPr>
          <p:cNvPr id="32" name="Image 7" descr="/home/claude/medassist_m4/icons/cloud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" y="4315968"/>
            <a:ext cx="182880" cy="18288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1051560" y="4169664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Delivery  —  </a:t>
            </a:r>
            <a:pPr algn="l"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website loads fast, anywhere in the world.</a:t>
            </a:r>
            <a:endParaRPr lang="en-US" sz="1250" dirty="0"/>
          </a:p>
        </p:txBody>
      </p:sp>
      <p:sp>
        <p:nvSpPr>
          <p:cNvPr id="34" name="Text 24"/>
          <p:cNvSpPr/>
          <p:nvPr/>
        </p:nvSpPr>
        <p:spPr>
          <a:xfrm>
            <a:off x="1051560" y="445312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on Vercel with automatic CI/CD linked to the GitHub main branch.</a:t>
            </a:r>
            <a:endParaRPr lang="en-US" sz="1000" dirty="0"/>
          </a:p>
        </p:txBody>
      </p:sp>
      <p:sp>
        <p:nvSpPr>
          <p:cNvPr id="35" name="Shape 25"/>
          <p:cNvSpPr/>
          <p:nvPr/>
        </p:nvSpPr>
        <p:spPr>
          <a:xfrm>
            <a:off x="548640" y="4882896"/>
            <a:ext cx="365760" cy="365760"/>
          </a:xfrm>
          <a:prstGeom prst="ellipse">
            <a:avLst/>
          </a:prstGeom>
          <a:solidFill>
            <a:srgbClr val="1E3A8A"/>
          </a:solidFill>
          <a:ln/>
        </p:spPr>
      </p:sp>
      <p:pic>
        <p:nvPicPr>
          <p:cNvPr id="36" name="Image 8" descr="/home/claude/medassist_m4/icons/exchange_whit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" y="4974336"/>
            <a:ext cx="182880" cy="18288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1051560" y="4828032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Routing  —  </a:t>
            </a:r>
            <a:pPr algn="l"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browser security errors between frontend and backend.</a:t>
            </a:r>
            <a:endParaRPr lang="en-US" sz="1250" dirty="0"/>
          </a:p>
        </p:txBody>
      </p:sp>
      <p:sp>
        <p:nvSpPr>
          <p:cNvPr id="38" name="Text 27"/>
          <p:cNvSpPr/>
          <p:nvPr/>
        </p:nvSpPr>
        <p:spPr>
          <a:xfrm>
            <a:off x="1051560" y="5111496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vercel.json reverse-proxy (/api/* → EC2 public IP) eliminates CORS and HTTPS/HTTP mixed-content blocking.</a:t>
            </a:r>
            <a:endParaRPr lang="en-US" sz="1000" dirty="0"/>
          </a:p>
        </p:txBody>
      </p:sp>
      <p:sp>
        <p:nvSpPr>
          <p:cNvPr id="39" name="Shape 28"/>
          <p:cNvSpPr/>
          <p:nvPr/>
        </p:nvSpPr>
        <p:spPr>
          <a:xfrm>
            <a:off x="548640" y="5623560"/>
            <a:ext cx="11094415" cy="685800"/>
          </a:xfrm>
          <a:prstGeom prst="roundRect">
            <a:avLst>
              <a:gd name="adj" fmla="val 13333"/>
            </a:avLst>
          </a:prstGeom>
          <a:solidFill>
            <a:srgbClr val="EFF4FF"/>
          </a:solidFill>
          <a:ln/>
        </p:spPr>
      </p:sp>
      <p:sp>
        <p:nvSpPr>
          <p:cNvPr id="40" name="Text 29"/>
          <p:cNvSpPr/>
          <p:nvPr/>
        </p:nvSpPr>
        <p:spPr>
          <a:xfrm>
            <a:off x="777240" y="562356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1100" dirty="0"/>
          </a:p>
        </p:txBody>
      </p:sp>
      <p:sp>
        <p:nvSpPr>
          <p:cNvPr id="41" name="Text 30"/>
          <p:cNvSpPr/>
          <p:nvPr/>
        </p:nvSpPr>
        <p:spPr>
          <a:xfrm>
            <a:off x="2286000" y="562356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 </a:t>
            </a:r>
            <a:pPr algn="l" indent="0" marL="0">
              <a:buNone/>
            </a:pPr>
            <a:r>
              <a:rPr lang="en-US" sz="1200" u="sng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med-assist-ai-delta.vercel.app</a:t>
            </a:r>
            <a:endParaRPr lang="en-US" sz="1200" dirty="0"/>
          </a:p>
        </p:txBody>
      </p:sp>
      <p:sp>
        <p:nvSpPr>
          <p:cNvPr id="42" name="Text 31"/>
          <p:cNvSpPr/>
          <p:nvPr/>
        </p:nvSpPr>
        <p:spPr>
          <a:xfrm>
            <a:off x="6949440" y="562356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Docs:  </a:t>
            </a:r>
            <a:pPr algn="l" indent="0" marL="0">
              <a:buNone/>
            </a:pPr>
            <a:r>
              <a:rPr lang="en-US" sz="1200" u="sng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3.110.188.253/docs</a:t>
            </a:r>
            <a:endParaRPr lang="en-US" sz="1200" dirty="0"/>
          </a:p>
        </p:txBody>
      </p:sp>
      <p:sp>
        <p:nvSpPr>
          <p:cNvPr id="43" name="Text 32"/>
          <p:cNvSpPr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MedAssist AI  |  Milestone 4</a:t>
            </a:r>
            <a:endParaRPr lang="en-US" sz="950" dirty="0"/>
          </a:p>
        </p:txBody>
      </p:sp>
      <p:sp>
        <p:nvSpPr>
          <p:cNvPr id="44" name="Text 33"/>
          <p:cNvSpPr/>
          <p:nvPr/>
        </p:nvSpPr>
        <p:spPr>
          <a:xfrm>
            <a:off x="10728655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06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2026-09-10T20:44:36Z</dcterms:created>
  <dcterms:modified xsi:type="dcterms:W3CDTF">2026-09-10T20:44:36Z</dcterms:modified>
</cp:coreProperties>
</file>